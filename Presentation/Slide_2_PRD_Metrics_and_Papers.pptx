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251" y="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0F6AA-5407-3DD6-EDBD-3AFB118E5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DD82-9671-A316-B881-5C019D2EF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0452"/>
          </a:xfrm>
        </p:spPr>
        <p:txBody>
          <a:bodyPr>
            <a:normAutofit fontScale="90000"/>
          </a:bodyPr>
          <a:lstStyle/>
          <a:p>
            <a:r>
              <a:rPr dirty="0"/>
              <a:t>The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45BAD-43D1-9567-4CF0-E50E5E8A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7966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Random Seeding (Classical Baseline)</a:t>
            </a:r>
            <a:br>
              <a:rPr lang="en-US" sz="1400" dirty="0"/>
            </a:br>
            <a:r>
              <a:rPr lang="en-US" sz="1400" dirty="0"/>
              <a:t>– Uniformly random ±1 sequences used to establish the classical performance floor and validate MTS behavior.</a:t>
            </a:r>
          </a:p>
          <a:p>
            <a:pPr marL="0" indent="0">
              <a:buNone/>
            </a:pPr>
            <a:r>
              <a:rPr lang="en-US" sz="1400" b="1" dirty="0"/>
              <a:t>QAOA-Based Seeding</a:t>
            </a:r>
            <a:br>
              <a:rPr lang="en-US" sz="1400" dirty="0"/>
            </a:br>
            <a:r>
              <a:rPr lang="en-US" sz="1400" dirty="0"/>
              <a:t>– Canonical quantum baseline using shallow QAOA circuits to generate correlated bitstrings for LABS initialization.</a:t>
            </a:r>
          </a:p>
          <a:p>
            <a:pPr marL="0" indent="0">
              <a:buNone/>
            </a:pPr>
            <a:r>
              <a:rPr lang="en-US" sz="1400" b="1" dirty="0"/>
              <a:t>DCQO-Based Seeding (Challenge Template)</a:t>
            </a:r>
            <a:br>
              <a:rPr lang="en-US" sz="1400" dirty="0"/>
            </a:br>
            <a:r>
              <a:rPr lang="en-US" sz="1400" dirty="0"/>
              <a:t>– Digitized </a:t>
            </a:r>
            <a:r>
              <a:rPr lang="en-US" sz="1400" dirty="0" err="1"/>
              <a:t>Counterdiabatic</a:t>
            </a:r>
            <a:r>
              <a:rPr lang="en-US" sz="1400" dirty="0"/>
              <a:t> Quantum Optimization following Gómez-Cadavid et al., using low-depth </a:t>
            </a:r>
            <a:r>
              <a:rPr lang="en-US" sz="1400" dirty="0" err="1"/>
              <a:t>counterdiabatic</a:t>
            </a:r>
            <a:r>
              <a:rPr lang="en-US" sz="1400" dirty="0"/>
              <a:t> circuits to bias sampling toward low-energy LABS states.</a:t>
            </a:r>
          </a:p>
          <a:p>
            <a:pPr marL="0" indent="0">
              <a:buNone/>
            </a:pPr>
            <a:r>
              <a:rPr lang="en-US" sz="1400" b="1" dirty="0"/>
              <a:t>DCQO+ Seeding (Engineering Ablations)</a:t>
            </a:r>
            <a:br>
              <a:rPr lang="en-US" sz="1400" dirty="0"/>
            </a:br>
            <a:r>
              <a:rPr lang="en-US" sz="1400" dirty="0"/>
              <a:t>– Controlled upgrades to DCQO </a:t>
            </a:r>
            <a:r>
              <a:rPr lang="en-US" sz="1400" dirty="0" err="1"/>
              <a:t>trotterization</a:t>
            </a:r>
            <a:r>
              <a:rPr lang="en-US" sz="1400" dirty="0"/>
              <a:t> (midpoint time discretization, Pauli ordering alternation, k-permutation averaging) that improve sampling quality </a:t>
            </a:r>
            <a:r>
              <a:rPr lang="en-US" sz="1400" b="1" dirty="0"/>
              <a:t>without increasing circuit depth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b="1" dirty="0"/>
              <a:t>PCE-Based Seeding (Twist Contribution)</a:t>
            </a:r>
            <a:br>
              <a:rPr lang="en-US" sz="1400" dirty="0"/>
            </a:br>
            <a:r>
              <a:rPr lang="en-US" sz="1400" dirty="0"/>
              <a:t>– Pauli Correlation Encoding (</a:t>
            </a:r>
            <a:r>
              <a:rPr lang="en-US" sz="1400" dirty="0" err="1"/>
              <a:t>Sciorilli</a:t>
            </a:r>
            <a:r>
              <a:rPr lang="en-US" sz="1400" dirty="0"/>
              <a:t> et al. 2025): a qubit-efficient alternative encoding that generates high-quality LABS seeds using a classical optimization loop over a compact quantum ansatz.</a:t>
            </a:r>
            <a:endParaRPr sz="1400" dirty="0"/>
          </a:p>
          <a:p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252375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0452"/>
          </a:xfrm>
        </p:spPr>
        <p:txBody>
          <a:bodyPr>
            <a:normAutofit fontScale="90000"/>
          </a:bodyPr>
          <a:lstStyle/>
          <a:p>
            <a:r>
              <a:rPr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7966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400" dirty="0"/>
          </a:p>
          <a:p>
            <a:pPr marL="0" indent="0">
              <a:buNone/>
            </a:pPr>
            <a:r>
              <a:rPr lang="en-US" sz="1400" b="1" dirty="0"/>
              <a:t>Five Research Papers</a:t>
            </a:r>
            <a:r>
              <a:rPr sz="1400" b="1" dirty="0"/>
              <a:t>:</a:t>
            </a:r>
          </a:p>
          <a:p>
            <a:pPr marL="0" indent="0">
              <a:buNone/>
            </a:pPr>
            <a:r>
              <a:rPr sz="1400" dirty="0"/>
              <a:t>• Gómez-Cadavid et al. (2025): Quantum-Enhanced Memetic Tabu Search (QE-MTS) for LABS</a:t>
            </a:r>
          </a:p>
          <a:p>
            <a:pPr marL="0" indent="0">
              <a:buNone/>
            </a:pPr>
            <a:r>
              <a:rPr sz="1400" dirty="0"/>
              <a:t>  – Challenge-endorsed hybrid template and evaluation metrics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• </a:t>
            </a:r>
            <a:r>
              <a:rPr lang="en-US" sz="1400" dirty="0" err="1"/>
              <a:t>Sciorilli</a:t>
            </a:r>
            <a:r>
              <a:rPr lang="en-US" sz="1400" dirty="0"/>
              <a:t> et al. (2025): Pauli Correlation Encoding (PCE)</a:t>
            </a:r>
          </a:p>
          <a:p>
            <a:pPr marL="0" indent="0">
              <a:buNone/>
            </a:pPr>
            <a:r>
              <a:rPr lang="en-US" sz="1400" dirty="0"/>
              <a:t>  – Qubit-efficient quantum encoding for LABS (alternative seeding strategy)</a:t>
            </a:r>
          </a:p>
          <a:p>
            <a:pPr marL="0" indent="0">
              <a:buNone/>
            </a:pPr>
            <a:r>
              <a:rPr lang="en-US" sz="1400" dirty="0"/>
              <a:t>• Farhi et al. (2014–): Quantum Approximate Optimization Algorithm (QAOA)</a:t>
            </a:r>
          </a:p>
          <a:p>
            <a:pPr marL="0" indent="0">
              <a:buNone/>
            </a:pPr>
            <a:r>
              <a:rPr lang="en-US" sz="1400" dirty="0"/>
              <a:t>  – Canonical quantum baseline for combinatorial optimization</a:t>
            </a:r>
            <a:endParaRPr sz="1400" dirty="0"/>
          </a:p>
          <a:p>
            <a:pPr marL="0" indent="0">
              <a:buNone/>
            </a:pPr>
            <a:r>
              <a:rPr sz="1400" dirty="0"/>
              <a:t>• </a:t>
            </a:r>
            <a:r>
              <a:rPr sz="1400" dirty="0" err="1"/>
              <a:t>Hegade</a:t>
            </a:r>
            <a:r>
              <a:rPr sz="1400" dirty="0"/>
              <a:t> et al. (2022): Digitized </a:t>
            </a:r>
            <a:r>
              <a:rPr sz="1400" dirty="0" err="1"/>
              <a:t>Counterdiabatic</a:t>
            </a:r>
            <a:r>
              <a:rPr sz="1400" dirty="0"/>
              <a:t> Quantum Optimization (DCQO)</a:t>
            </a:r>
          </a:p>
          <a:p>
            <a:pPr marL="0" indent="0">
              <a:buNone/>
            </a:pPr>
            <a:r>
              <a:rPr sz="1400" dirty="0"/>
              <a:t>  – Low-depth </a:t>
            </a:r>
            <a:r>
              <a:rPr sz="1400" dirty="0" err="1"/>
              <a:t>counterdiabatic</a:t>
            </a:r>
            <a:r>
              <a:rPr sz="1400" dirty="0"/>
              <a:t> circuits for improved sampling distributions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• Zhang et al. (2025): Massively Parallel Memetic Tabu Search for LABS  </a:t>
            </a:r>
          </a:p>
          <a:p>
            <a:pPr marL="0" indent="0">
              <a:buNone/>
            </a:pPr>
            <a:r>
              <a:rPr lang="en-US" sz="1400" dirty="0"/>
              <a:t>– GPU-parallelized energy and neighborhood evaluation enabling scalable, high-throughput classical optimization</a:t>
            </a:r>
            <a:endParaRPr sz="1400" dirty="0"/>
          </a:p>
          <a:p>
            <a:pPr marL="0" indent="0">
              <a:buNone/>
            </a:pPr>
            <a:r>
              <a:rPr sz="1400" dirty="0"/>
              <a:t>• </a:t>
            </a:r>
            <a:r>
              <a:rPr sz="1400" b="1" dirty="0"/>
              <a:t>DCQO+ Trotterization Upgrades</a:t>
            </a:r>
            <a:r>
              <a:rPr sz="1400" dirty="0"/>
              <a:t>:</a:t>
            </a:r>
          </a:p>
          <a:p>
            <a:pPr marL="0" indent="0">
              <a:buNone/>
            </a:pPr>
            <a:r>
              <a:rPr sz="1400" dirty="0"/>
              <a:t>  – Midpoint time discretization</a:t>
            </a:r>
          </a:p>
          <a:p>
            <a:pPr marL="0" indent="0">
              <a:buNone/>
            </a:pPr>
            <a:r>
              <a:rPr sz="1400" dirty="0"/>
              <a:t>  – Forward/reverse Pauli ordering</a:t>
            </a:r>
          </a:p>
          <a:p>
            <a:pPr marL="0" indent="0">
              <a:buNone/>
            </a:pPr>
            <a:r>
              <a:rPr sz="1400" dirty="0"/>
              <a:t>  – K-permutation averaged ordering</a:t>
            </a:r>
          </a:p>
          <a:p>
            <a:endParaRPr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302</Words>
  <Application>Microsoft Office PowerPoint</Application>
  <PresentationFormat>On-screen Show (4:3)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The Plan</vt:lpstr>
      <vt:lpstr>The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 Anstrom</dc:creator>
  <cp:keywords/>
  <dc:description>generated using python-pptx</dc:description>
  <cp:lastModifiedBy>Benjamin Neil Anstrom</cp:lastModifiedBy>
  <cp:revision>4</cp:revision>
  <dcterms:created xsi:type="dcterms:W3CDTF">2013-01-27T09:14:16Z</dcterms:created>
  <dcterms:modified xsi:type="dcterms:W3CDTF">2026-02-01T11:37:30Z</dcterms:modified>
  <cp:category/>
</cp:coreProperties>
</file>