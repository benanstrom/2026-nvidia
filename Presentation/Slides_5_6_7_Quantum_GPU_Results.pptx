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5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baseline (random)</c:v>
                </c:pt>
              </c:strCache>
            </c:strRef>
          </c:tx>
          <c:spPr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988.226</c:v>
                </c:pt>
                <c:pt idx="1">
                  <c:v>447.44900000000001</c:v>
                </c:pt>
                <c:pt idx="2">
                  <c:v>292.34800000000001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D6-4658-AABE-F34E35EBEC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baseline (random)</c:v>
                </c:pt>
              </c:strCache>
            </c:strRef>
          </c:tx>
          <c:spPr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1635.365</c:v>
                </c:pt>
                <c:pt idx="1">
                  <c:v>1712.079</c:v>
                </c:pt>
                <c:pt idx="2">
                  <c:v>1691.33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D6-4658-AABE-F34E35EBE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201058828489811"/>
          <c:y val="0.29443564798965349"/>
          <c:w val="0.21798941171510189"/>
          <c:h val="0.26016252044581384"/>
        </c:manualLayout>
      </c:layout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DCQO vs DCQO+: Controlled Quantum Ablations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Baseline DCQO (Tutorial / Cadavid):</a:t>
            </a:r>
          </a:p>
          <a:p>
            <a:pPr marL="0" indent="0">
              <a:buNone/>
            </a:pPr>
            <a:r>
              <a:rPr dirty="0"/>
              <a:t>• First-order Lie–Trotter product formula</a:t>
            </a:r>
          </a:p>
          <a:p>
            <a:pPr marL="0" indent="0">
              <a:buNone/>
            </a:pPr>
            <a:r>
              <a:rPr dirty="0"/>
              <a:t>• Right-endpoint time discretization</a:t>
            </a:r>
          </a:p>
          <a:p>
            <a:pPr marL="0" indent="0">
              <a:buNone/>
            </a:pPr>
            <a:r>
              <a:rPr dirty="0"/>
              <a:t>• Fixed Pauli-string ordering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DCQO+ Upgrades (No Extra Quantum Depth):</a:t>
            </a:r>
          </a:p>
          <a:p>
            <a:pPr marL="0" indent="0">
              <a:buNone/>
            </a:pPr>
            <a:r>
              <a:rPr dirty="0"/>
              <a:t>• Midpoint time grid for CD angle evaluation</a:t>
            </a:r>
          </a:p>
          <a:p>
            <a:pPr marL="0" indent="0">
              <a:buNone/>
            </a:pPr>
            <a:r>
              <a:rPr dirty="0"/>
              <a:t>• Forward / reverse Pauli ordering alternation</a:t>
            </a:r>
          </a:p>
          <a:p>
            <a:pPr marL="0" indent="0">
              <a:buNone/>
            </a:pPr>
            <a:r>
              <a:rPr dirty="0"/>
              <a:t>• k-permutation Pauli ordering (randomized product formula lite)</a:t>
            </a:r>
          </a:p>
          <a:p>
            <a:pPr lvl="1"/>
            <a:endParaRPr dirty="0"/>
          </a:p>
          <a:p>
            <a:pPr marL="400050" lvl="1" indent="0">
              <a:buNone/>
            </a:pPr>
            <a:r>
              <a:rPr dirty="0"/>
              <a:t>Design Rationale:</a:t>
            </a:r>
          </a:p>
          <a:p>
            <a:pPr marL="400050" lvl="1" indent="0">
              <a:buNone/>
            </a:pPr>
            <a:r>
              <a:rPr dirty="0"/>
              <a:t>• Improves discretization &amp; ordering error</a:t>
            </a:r>
          </a:p>
          <a:p>
            <a:pPr marL="400050" lvl="1" indent="0">
              <a:buNone/>
            </a:pPr>
            <a:r>
              <a:rPr dirty="0"/>
              <a:t>• Increases sampling diversity</a:t>
            </a:r>
          </a:p>
          <a:p>
            <a:pPr marL="400050" lvl="1" indent="0">
              <a:buNone/>
            </a:pPr>
            <a:r>
              <a:rPr dirty="0"/>
              <a:t>• Adds zero additional gates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PCE </a:t>
            </a:r>
            <a:r>
              <a:rPr lang="en-US" dirty="0"/>
              <a:t>"</a:t>
            </a:r>
            <a:r>
              <a:rPr dirty="0"/>
              <a:t>Twist</a:t>
            </a:r>
            <a:r>
              <a:rPr lang="en-US" dirty="0"/>
              <a:t>"</a:t>
            </a:r>
            <a:r>
              <a:rPr dirty="0"/>
              <a:t> Seeder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Pauli Correlation Encoding (</a:t>
            </a:r>
            <a:r>
              <a:rPr dirty="0" err="1"/>
              <a:t>Sciorilli</a:t>
            </a:r>
            <a:r>
              <a:rPr dirty="0"/>
              <a:t> et al., 2025):</a:t>
            </a:r>
          </a:p>
          <a:p>
            <a:pPr marL="0" indent="0">
              <a:buNone/>
            </a:pPr>
            <a:r>
              <a:rPr dirty="0"/>
              <a:t>• Qubit-efficient LABS encoding</a:t>
            </a:r>
          </a:p>
          <a:p>
            <a:pPr marL="0" indent="0">
              <a:buNone/>
            </a:pPr>
            <a:r>
              <a:rPr dirty="0"/>
              <a:t>• n = ceil(log₄(N + 1)) qubits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Implementation Details (</a:t>
            </a:r>
            <a:r>
              <a:rPr lang="en-US" dirty="0"/>
              <a:t>True to paper</a:t>
            </a:r>
            <a:r>
              <a:rPr dirty="0"/>
              <a:t>):</a:t>
            </a:r>
          </a:p>
          <a:p>
            <a:pPr marL="0" indent="0">
              <a:buNone/>
            </a:pPr>
            <a:r>
              <a:rPr dirty="0"/>
              <a:t>• Brickwork ansatz</a:t>
            </a:r>
          </a:p>
          <a:p>
            <a:pPr marL="0" indent="0">
              <a:buNone/>
            </a:pPr>
            <a:r>
              <a:rPr dirty="0"/>
              <a:t>• Relaxed LABS cost (Eq. 4)</a:t>
            </a:r>
          </a:p>
          <a:p>
            <a:pPr marL="0" indent="0">
              <a:buNone/>
            </a:pPr>
            <a:r>
              <a:rPr dirty="0"/>
              <a:t>• L-BFGS-B multi-restart classical optimization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Benchmark Result (N = 16):</a:t>
            </a:r>
          </a:p>
          <a:p>
            <a:pPr marL="0" indent="0">
              <a:buNone/>
            </a:pPr>
            <a:r>
              <a:rPr dirty="0"/>
              <a:t>• PCE raw energy min = 24</a:t>
            </a:r>
          </a:p>
          <a:p>
            <a:pPr marL="0" indent="0">
              <a:buNone/>
            </a:pPr>
            <a:r>
              <a:rPr dirty="0"/>
              <a:t>• QAOA / DCQO raw energy = 32–36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Execution: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numpy</a:t>
            </a:r>
            <a:r>
              <a:rPr dirty="0"/>
              <a:t> + </a:t>
            </a:r>
            <a:r>
              <a:rPr dirty="0" err="1"/>
              <a:t>scipy</a:t>
            </a:r>
            <a:r>
              <a:rPr dirty="0"/>
              <a:t> simulation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>
                <a:solidFill>
                  <a:srgbClr val="FF0000"/>
                </a:solidFill>
              </a:rPr>
              <a:t>No CUDA-Q </a:t>
            </a:r>
            <a:r>
              <a:rPr dirty="0"/>
              <a:t>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GPU Acceleration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Energy Evaluation Kernel:</a:t>
            </a:r>
          </a:p>
          <a:p>
            <a:pPr marL="0" indent="0">
              <a:buNone/>
            </a:pPr>
            <a:r>
              <a:rPr dirty="0"/>
              <a:t>• CuPy </a:t>
            </a:r>
            <a:r>
              <a:rPr dirty="0" err="1"/>
              <a:t>RawKernel</a:t>
            </a:r>
            <a:r>
              <a:rPr dirty="0"/>
              <a:t> with shared-memory tree reduction</a:t>
            </a:r>
          </a:p>
          <a:p>
            <a:pPr marL="0" indent="0">
              <a:buNone/>
            </a:pPr>
            <a:r>
              <a:rPr dirty="0"/>
              <a:t>• 150–250× speedup</a:t>
            </a:r>
          </a:p>
          <a:p>
            <a:pPr marL="0" indent="0">
              <a:buNone/>
            </a:pPr>
            <a:r>
              <a:rPr dirty="0"/>
              <a:t>• 31–40 µs per batch (constant time)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MTS Delta-Energy Kernels:</a:t>
            </a:r>
          </a:p>
          <a:p>
            <a:pPr marL="0" indent="0">
              <a:buNone/>
            </a:pPr>
            <a:r>
              <a:rPr dirty="0"/>
              <a:t>• Three incremental CUDA kernels</a:t>
            </a:r>
          </a:p>
          <a:p>
            <a:pPr marL="0" indent="0">
              <a:buNone/>
            </a:pPr>
            <a:r>
              <a:rPr dirty="0"/>
              <a:t>• 13–48× speedup over CPU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Robustness &amp; Scaling:</a:t>
            </a:r>
          </a:p>
          <a:p>
            <a:pPr marL="0" indent="0">
              <a:buNone/>
            </a:pPr>
            <a:r>
              <a:rPr dirty="0"/>
              <a:t>• OOM guard for large-N CUDA-Q seeders</a:t>
            </a:r>
          </a:p>
          <a:p>
            <a:pPr marL="0" indent="0">
              <a:buNone/>
            </a:pPr>
            <a:r>
              <a:rPr dirty="0"/>
              <a:t>• Benchmarks collected on NVIDIA L4 GPU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GPU acceleration reference:</a:t>
            </a:r>
            <a:br>
              <a:rPr lang="en-US" dirty="0"/>
            </a:br>
            <a:r>
              <a:rPr lang="en-US" dirty="0"/>
              <a:t>Zhang et al., </a:t>
            </a:r>
            <a:r>
              <a:rPr lang="en-US" i="1" dirty="0"/>
              <a:t>“Massively Parallel Memetic Tabu Search for the Low Autocorrelation Binary Sequences Problem,”</a:t>
            </a:r>
            <a:r>
              <a:rPr lang="en-US" dirty="0"/>
              <a:t> 2025.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4B5E498A-A8F2-0FCA-D5F5-7C742300CC1F}"/>
              </a:ext>
            </a:extLst>
          </p:cNvPr>
          <p:cNvSpPr/>
          <p:nvPr/>
        </p:nvSpPr>
        <p:spPr>
          <a:xfrm>
            <a:off x="861242" y="1234440"/>
            <a:ext cx="57216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MTS iterations per second within the fixed 3s search budget.</a:t>
            </a:r>
            <a:endParaRPr lang="en-US" sz="140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A2604DA7-9073-ABDA-B204-7113C169E8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0261179"/>
              </p:ext>
            </p:extLst>
          </p:nvPr>
        </p:nvGraphicFramePr>
        <p:xfrm>
          <a:off x="861241" y="160020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4EBE3CC-4FCC-4272-3E28-0F70743E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MTS Throughput Scaling with 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2599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271</Words>
  <Application>Microsoft Office PowerPoint</Application>
  <PresentationFormat>On-screen Show (4:3)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DCQO vs DCQO+: Controlled Quantum Ablations</vt:lpstr>
      <vt:lpstr>PCE "Twist" Seeder</vt:lpstr>
      <vt:lpstr>GPU Acceleration Results</vt:lpstr>
      <vt:lpstr>MTS Throughput Scaling with 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 Anstrom</dc:creator>
  <cp:keywords/>
  <dc:description>generated using python-pptx</dc:description>
  <cp:lastModifiedBy>Benjamin Neil Anstrom</cp:lastModifiedBy>
  <cp:revision>4</cp:revision>
  <dcterms:created xsi:type="dcterms:W3CDTF">2013-01-27T09:14:16Z</dcterms:created>
  <dcterms:modified xsi:type="dcterms:W3CDTF">2026-02-01T11:05:32Z</dcterms:modified>
  <cp:category/>
</cp:coreProperties>
</file>