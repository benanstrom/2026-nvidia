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9144000"/>
  <p:notesSz cx="6858000" cy="9144000"/>
  <p:embeddedFontLst>
    <p:embeddedFont>
      <p:font typeface="Proxima Nova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6" roundtripDataSignature="AMtx7mhbc74AlKiLLtqadvVqPfXEyUJz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ProximaNova-regular.fntdata"/><Relationship Id="rId21" Type="http://schemas.openxmlformats.org/officeDocument/2006/relationships/slide" Target="slides/slide16.xml"/><Relationship Id="rId24" Type="http://schemas.openxmlformats.org/officeDocument/2006/relationships/font" Target="fonts/ProximaNova-italic.fntdata"/><Relationship Id="rId23" Type="http://schemas.openxmlformats.org/officeDocument/2006/relationships/font" Target="fonts/ProximaNov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font" Target="fonts/ProximaNova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2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7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c91b8c5b5_2_14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g3bc91b8c5b5_2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g3bc91b8c5b5_2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bc91b8c5b5_2_15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bc91b8c5b5_2_1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3bc91b8c5b5_2_15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c91b8c5b5_2_78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g3bc91b8c5b5_2_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bc91b8c5b5_2_7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c91b8c5b5_2_170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bc91b8c5b5_2_1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bc91b8c5b5_2_1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evidence files: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 1 (GPU speedup):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labs_hybrid_solver/Claude-revisions.md (Sections 1</a:t>
            </a:r>
            <a:r>
              <a:rPr lang="en-US"/>
              <a:t>-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2) contains benchmark tables: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• Energy kernel RawKernel: 157</a:t>
            </a:r>
            <a:r>
              <a:rPr lang="en-US"/>
              <a:t>-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252× speedup (31</a:t>
            </a:r>
            <a:r>
              <a:rPr lang="en-US"/>
              <a:t>-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40 µs per batch)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• Delta-energy MTS kernels: 12.9</a:t>
            </a:r>
            <a:r>
              <a:rPr lang="en-US"/>
              <a:t>-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47.9× speedup (100 iters)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labs_hybrid_solver/bench_energy_kernel.py and bench_delta_mts.py reproduce these benchmarks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labs_hybrid_solver/README.md GPU acceleration bullets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labs_hybrid_solver/team_submissions/PRESENTATION_OUTLINE.md repeats these numbers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 2 (Scale N=20</a:t>
            </a:r>
            <a:r>
              <a:rPr lang="en-US"/>
              <a:t>-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30):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results/run_bench_20260201_052047/gate3_gpu_matrix/metrics.csv (rows for N=20 and N=30)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results/run_bench_20260201_052047/gate3_gpu_matrix/results_summary.md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 3 (Seeder comparison):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results/run_bench_20260201_052047/gate3_gpu_matrix/artifacts/plots/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• seed_energy_hist.png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• final_energy_bar.png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• time_to_best.png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• runtime_breakdown.png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Per-condition traces: *_mts_trace.json and *_seed_energies.npy in Gate 3 artifacts/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 4 (Large N ≥40):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Gate 3 metrics.csv includes N=40 runs for seeder=random and seeder=pce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OOM guard implementation: src/labs_hybrid/benchmarks.py (_would_oom)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OOM guard rationale: Claude-revisions.md (Section 6)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 5 (PCE seeds):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Paper-accurate PCE implementation: src/labs_hybrid/seeders/pce_seeder.py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PCE completion details: Claude-revisions.md (Section 3)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Gate 2 GPU bring-up includes PCE at N=16: results/run_bench_20260201_052047/gate2_gpu_bringup/metrics.csv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Gate 3 includes PCE at N=20/30/40: results/run_bench_20260201_052047/gate3_gpu_matrix/metrics.csv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Metric 6 (Quantum advantage signal):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Gate 3 has only one run per seeder per N; no repeated trials to support a median claim.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At N=30 in Gate 3, best_final_energy is identical across all seeders; median advantage not shown.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Suggestion: run multiple rng_seed values per seeder at N=30+ and compute median(final_energy) under equal time budgets.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2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bc91b8c5b5_1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bc91b8c5b5_1_11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c91b8c5b5_1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bc91b8c5b5_1_6:notes"/>
          <p:cNvSpPr/>
          <p:nvPr>
            <p:ph idx="2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Google Shape;14;g3bc91b8c5b5_0_633"/>
          <p:cNvCxnSpPr/>
          <p:nvPr/>
        </p:nvCxnSpPr>
        <p:spPr>
          <a:xfrm>
            <a:off x="0" y="3997533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" name="Google Shape;15;g3bc91b8c5b5_0_633"/>
          <p:cNvSpPr txBox="1"/>
          <p:nvPr>
            <p:ph type="ctrTitle"/>
          </p:nvPr>
        </p:nvSpPr>
        <p:spPr>
          <a:xfrm>
            <a:off x="510450" y="1676400"/>
            <a:ext cx="8123100" cy="2118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g3bc91b8c5b5_0_633"/>
          <p:cNvSpPr txBox="1"/>
          <p:nvPr>
            <p:ph idx="1" type="subTitle"/>
          </p:nvPr>
        </p:nvSpPr>
        <p:spPr>
          <a:xfrm>
            <a:off x="510450" y="4243083"/>
            <a:ext cx="8123100" cy="8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g3bc91b8c5b5_0_633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Google Shape;19;g3bc91b8c5b5_0_638"/>
          <p:cNvCxnSpPr/>
          <p:nvPr/>
        </p:nvCxnSpPr>
        <p:spPr>
          <a:xfrm>
            <a:off x="0" y="3997533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" name="Google Shape;20;g3bc91b8c5b5_0_638"/>
          <p:cNvSpPr txBox="1"/>
          <p:nvPr>
            <p:ph type="title"/>
          </p:nvPr>
        </p:nvSpPr>
        <p:spPr>
          <a:xfrm>
            <a:off x="510450" y="2743200"/>
            <a:ext cx="8123100" cy="103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" name="Google Shape;21;g3bc91b8c5b5_0_638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bc91b8c5b5_0_642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g3bc91b8c5b5_0_64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g3bc91b8c5b5_0_642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g3bc91b8c5b5_0_64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bc91b8c5b5_0_647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g3bc91b8c5b5_0_647"/>
          <p:cNvSpPr txBox="1"/>
          <p:nvPr>
            <p:ph idx="1" type="body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g3bc91b8c5b5_0_647"/>
          <p:cNvSpPr txBox="1"/>
          <p:nvPr>
            <p:ph idx="2" type="body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g3bc91b8c5b5_0_647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bc91b8c5b5_0_652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g3bc91b8c5b5_0_65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bc91b8c5b5_0_655"/>
          <p:cNvSpPr txBox="1"/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7" name="Google Shape;37;g3bc91b8c5b5_0_655"/>
          <p:cNvSpPr txBox="1"/>
          <p:nvPr>
            <p:ph idx="1" type="body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8" name="Google Shape;38;g3bc91b8c5b5_0_655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c91b8c5b5_0_659"/>
          <p:cNvSpPr txBox="1"/>
          <p:nvPr>
            <p:ph type="title"/>
          </p:nvPr>
        </p:nvSpPr>
        <p:spPr>
          <a:xfrm>
            <a:off x="490250" y="701800"/>
            <a:ext cx="5797500" cy="54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1" name="Google Shape;41;g3bc91b8c5b5_0_659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bc91b8c5b5_0_662"/>
          <p:cNvSpPr/>
          <p:nvPr/>
        </p:nvSpPr>
        <p:spPr>
          <a:xfrm>
            <a:off x="4572000" y="100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4" name="Google Shape;44;g3bc91b8c5b5_0_66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" name="Google Shape;45;g3bc91b8c5b5_0_662"/>
          <p:cNvSpPr txBox="1"/>
          <p:nvPr>
            <p:ph type="title"/>
          </p:nvPr>
        </p:nvSpPr>
        <p:spPr>
          <a:xfrm>
            <a:off x="265500" y="1607767"/>
            <a:ext cx="4045200" cy="201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" name="Google Shape;46;g3bc91b8c5b5_0_662"/>
          <p:cNvSpPr txBox="1"/>
          <p:nvPr>
            <p:ph idx="1" type="subTitle"/>
          </p:nvPr>
        </p:nvSpPr>
        <p:spPr>
          <a:xfrm>
            <a:off x="265500" y="3692001"/>
            <a:ext cx="4045200" cy="179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7" name="Google Shape;47;g3bc91b8c5b5_0_662"/>
          <p:cNvSpPr txBox="1"/>
          <p:nvPr>
            <p:ph idx="2" type="body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g3bc91b8c5b5_0_66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bc91b8c5b5_0_669"/>
          <p:cNvSpPr txBox="1"/>
          <p:nvPr>
            <p:ph idx="1" type="body"/>
          </p:nvPr>
        </p:nvSpPr>
        <p:spPr>
          <a:xfrm>
            <a:off x="311700" y="5649100"/>
            <a:ext cx="5998800" cy="79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51" name="Google Shape;51;g3bc91b8c5b5_0_669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bc91b8c5b5_0_672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g3bc91b8c5b5_0_672"/>
          <p:cNvSpPr txBox="1"/>
          <p:nvPr>
            <p:ph hasCustomPrompt="1" type="title"/>
          </p:nvPr>
        </p:nvSpPr>
        <p:spPr>
          <a:xfrm>
            <a:off x="311700" y="1321967"/>
            <a:ext cx="8520600" cy="255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5" name="Google Shape;55;g3bc91b8c5b5_0_672"/>
          <p:cNvSpPr txBox="1"/>
          <p:nvPr>
            <p:ph idx="1" type="body"/>
          </p:nvPr>
        </p:nvSpPr>
        <p:spPr>
          <a:xfrm>
            <a:off x="311700" y="4095067"/>
            <a:ext cx="8520600" cy="12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g3bc91b8c5b5_0_672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c91b8c5b5_0_677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c91b8c5b5_0_67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" name="Google Shape;61;g3bc91b8c5b5_0_679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62" name="Google Shape;62;g3bc91b8c5b5_0_679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g3bc91b8c5b5_0_679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g3bc91b8c5b5_0_679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bc91b8c5b5_0_629"/>
          <p:cNvSpPr txBox="1"/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11" name="Google Shape;11;g3bc91b8c5b5_0_629"/>
          <p:cNvSpPr txBox="1"/>
          <p:nvPr>
            <p:ph idx="1" type="body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12" name="Google Shape;12;g3bc91b8c5b5_0_629"/>
          <p:cNvSpPr txBox="1"/>
          <p:nvPr>
            <p:ph idx="12" type="sldNum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 txBox="1"/>
          <p:nvPr>
            <p:ph type="ctrTitle"/>
          </p:nvPr>
        </p:nvSpPr>
        <p:spPr>
          <a:xfrm>
            <a:off x="685800" y="516064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91666"/>
              <a:buFont typeface="Calibri"/>
              <a:buNone/>
            </a:pPr>
            <a:r>
              <a:rPr lang="en-US"/>
              <a:t>GPU-Accelerated Hybrid Solver for the LABS Problem</a:t>
            </a:r>
            <a:endParaRPr/>
          </a:p>
        </p:txBody>
      </p:sp>
      <p:sp>
        <p:nvSpPr>
          <p:cNvPr id="71" name="Google Shape;71;p1"/>
          <p:cNvSpPr txBox="1"/>
          <p:nvPr>
            <p:ph idx="1" type="subTitle"/>
          </p:nvPr>
        </p:nvSpPr>
        <p:spPr>
          <a:xfrm>
            <a:off x="1371600" y="1986105"/>
            <a:ext cx="6400800" cy="30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47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ct val="110581"/>
              <a:buNone/>
            </a:pPr>
            <a:r>
              <a:t/>
            </a:r>
            <a:endParaRPr sz="3978"/>
          </a:p>
          <a:p>
            <a:pPr indent="0" lvl="0" marL="0" rtl="0" algn="ctr">
              <a:spcBef>
                <a:spcPts val="319"/>
              </a:spcBef>
              <a:spcAft>
                <a:spcPts val="0"/>
              </a:spcAft>
              <a:buClr>
                <a:srgbClr val="888888"/>
              </a:buClr>
              <a:buSzPct val="73811"/>
              <a:buNone/>
            </a:pPr>
            <a:r>
              <a:rPr lang="en-US" sz="3928"/>
              <a:t>We demonstrate that GPU-accelerated Memetic Tabu Search (MTS) with quantum-inspired seeding achieves better time-to-solution than classical baselines for the LABS problem.</a:t>
            </a:r>
            <a:endParaRPr sz="3928"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46154"/>
              <a:buNone/>
            </a:pPr>
            <a:r>
              <a:t/>
            </a:r>
            <a:endParaRPr sz="2189"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13432"/>
              <a:buNone/>
            </a:pPr>
            <a:r>
              <a:rPr lang="en-US" sz="2821"/>
              <a:t>MIT iQuHACK 2026 - NVIDIA LABS Challenge</a:t>
            </a:r>
            <a:endParaRPr sz="2821"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33333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18518"/>
              <a:buNone/>
            </a:pPr>
            <a:r>
              <a:rPr lang="en-US" sz="2700"/>
              <a:t>Team: AvoQados</a:t>
            </a:r>
            <a:endParaRPr sz="2700"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33333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13432"/>
              <a:buNone/>
            </a:pPr>
            <a:r>
              <a:rPr lang="en-US" sz="2821"/>
              <a:t>Ben Anstrom - Technical Marketing &amp; GPU Acceleration Lead</a:t>
            </a:r>
            <a:endParaRPr sz="2821"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13432"/>
              <a:buNone/>
            </a:pPr>
            <a:r>
              <a:rPr lang="en-US" sz="2821"/>
              <a:t>Katya Mijatovic - Project Lead &amp; Quality Assurance Lead</a:t>
            </a:r>
            <a:endParaRPr sz="2821"/>
          </a:p>
          <a:p>
            <a:pPr indent="0" lvl="0" marL="0" rtl="0" algn="ctr">
              <a:spcBef>
                <a:spcPts val="352"/>
              </a:spcBef>
              <a:spcAft>
                <a:spcPts val="0"/>
              </a:spcAft>
              <a:buClr>
                <a:srgbClr val="888888"/>
              </a:buClr>
              <a:buSzPct val="133333"/>
              <a:buNone/>
            </a:pPr>
            <a:r>
              <a:t/>
            </a:r>
            <a:endParaRPr/>
          </a:p>
        </p:txBody>
      </p:sp>
      <p:pic>
        <p:nvPicPr>
          <p:cNvPr id="72" name="Google Shape;7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1852" y="4809351"/>
            <a:ext cx="1620300" cy="194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"/>
          <p:cNvSpPr txBox="1"/>
          <p:nvPr>
            <p:ph type="title"/>
          </p:nvPr>
        </p:nvSpPr>
        <p:spPr>
          <a:xfrm>
            <a:off x="457200" y="274638"/>
            <a:ext cx="8229600" cy="7004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The Plan - Seeding algorithms</a:t>
            </a:r>
            <a:endParaRPr/>
          </a:p>
        </p:txBody>
      </p:sp>
      <p:sp>
        <p:nvSpPr>
          <p:cNvPr id="78" name="Google Shape;78;p2"/>
          <p:cNvSpPr txBox="1"/>
          <p:nvPr>
            <p:ph idx="1" type="body"/>
          </p:nvPr>
        </p:nvSpPr>
        <p:spPr>
          <a:xfrm>
            <a:off x="457200" y="1227976"/>
            <a:ext cx="8229600" cy="51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/>
              <a:t>Random Seeding (Classical Baseline)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US" sz="1500"/>
              <a:t>Uniformly random ±1 sequences used to establish the classical performance floor and validate MTS behavior.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/>
              <a:t>QAOA-Based Seeding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US" sz="1500"/>
              <a:t>Canonical quantum baseline using shallow QAOA circuits to generate correlated bitstrings for LABS initialization.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/>
              <a:t>DCQO-Based Seeding (Challenge Template)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US" sz="1500"/>
              <a:t>Digitized Counterdiabatic Quantum Optimization following Gómez-Cadavid et al., using low-depth counterdiabatic circuits to bias sampling toward low-energy LABS states.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/>
              <a:t>DCQO+ Seeding (Engineering Ablations)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US" sz="1500"/>
              <a:t>Controlled upgrades to DCQO trotterization (midpoint time discretization, Pauli ordering alternation, k-permutation averaging) that improve sampling quality </a:t>
            </a:r>
            <a:r>
              <a:rPr b="1" lang="en-US" sz="1500"/>
              <a:t>without increasing circuit depth</a:t>
            </a:r>
            <a:r>
              <a:rPr lang="en-US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b="1" lang="en-US" sz="1500"/>
              <a:t>PCE-Based Seeding (Twist Contribution)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US" sz="1500"/>
              <a:t>Pauli Correlation Encoding (Sciorilli et al. 2025): a qubit-efficient alternative encoding that generates high-quality LABS seeds using a classical optimization loop over a compact quantum ansatz.</a:t>
            </a:r>
            <a:endParaRPr sz="1500"/>
          </a:p>
          <a:p>
            <a:pPr indent="-266700" lvl="0" marL="342900" rtl="0" algn="l">
              <a:spcBef>
                <a:spcPts val="240"/>
              </a:spcBef>
              <a:spcAft>
                <a:spcPts val="1200"/>
              </a:spcAft>
              <a:buClr>
                <a:schemeClr val="dk1"/>
              </a:buClr>
              <a:buSzPts val="1200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"/>
          <p:cNvSpPr txBox="1"/>
          <p:nvPr>
            <p:ph type="title"/>
          </p:nvPr>
        </p:nvSpPr>
        <p:spPr>
          <a:xfrm>
            <a:off x="457200" y="274638"/>
            <a:ext cx="8229600" cy="7004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The Plan - Research and Trotter+</a:t>
            </a:r>
            <a:endParaRPr/>
          </a:p>
        </p:txBody>
      </p:sp>
      <p:sp>
        <p:nvSpPr>
          <p:cNvPr id="84" name="Google Shape;84;p3"/>
          <p:cNvSpPr txBox="1"/>
          <p:nvPr>
            <p:ph idx="1" type="body"/>
          </p:nvPr>
        </p:nvSpPr>
        <p:spPr>
          <a:xfrm>
            <a:off x="457200" y="1227976"/>
            <a:ext cx="8229600" cy="49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1" lang="en-US" sz="1400"/>
              <a:t>Research Papers:</a:t>
            </a:r>
            <a:endParaRPr/>
          </a:p>
          <a:p>
            <a:pPr indent="-317500" lvl="0" marL="457200" rtl="0" algn="l">
              <a:spcBef>
                <a:spcPts val="28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Gómez-Cadavid et al. (2025): Quantum-Enhanced Memetic Tabu Search (QE-MTS) for LABS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i="1" lang="en-US" sz="1400"/>
              <a:t>Challenge-endorsed hybrid template and evaluation metrics</a:t>
            </a:r>
            <a:endParaRPr i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Sciorilli et al. (2025): Pauli Correlation Encoding (PCE)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i="1" lang="en-US" sz="1400"/>
              <a:t>Qubit-efficient quantum encoding for LABS (alternative seeding strategy)</a:t>
            </a:r>
            <a:endParaRPr i="1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Farhi et al. (2014): Quantum Approximate Optimization Algorithm (QAOA)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i="1" lang="en-US" sz="1400"/>
              <a:t>Canonical quantum baseline for combinatorial optimization</a:t>
            </a:r>
            <a:endParaRPr i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Hegade et al. (2022): Digitized Counterdiabatic Quantum Optimization (DCQO)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i="1" lang="en-US" sz="1400"/>
              <a:t>Low-depth counterdiabatic circuits for improved sampling distributions</a:t>
            </a:r>
            <a:endParaRPr i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Zhang et al. (2025): Massively Parallel Memetic Tabu Search for LABS 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i="1" lang="en-US" sz="1400"/>
              <a:t>GPU-parallelized energy and neighborhood evaluation enabling scalable, high-throughput classical optimization</a:t>
            </a:r>
            <a:endParaRPr i="1" sz="1400"/>
          </a:p>
          <a:p>
            <a:pPr indent="0" lvl="0" marL="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1" lang="en-US" sz="1400"/>
              <a:t>DCQO+ Trotterization Upgrades</a:t>
            </a:r>
            <a:r>
              <a:rPr lang="en-US" sz="1400"/>
              <a:t>:</a:t>
            </a:r>
            <a:endParaRPr/>
          </a:p>
          <a:p>
            <a:pPr indent="-317500" lvl="0" marL="457200" rtl="0" algn="l">
              <a:spcBef>
                <a:spcPts val="28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 Midpoint time discretization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 Forward/reverse Pauli ordering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sz="1400"/>
              <a:t> K-permutation averaged ordering</a:t>
            </a:r>
            <a:endParaRPr/>
          </a:p>
          <a:p>
            <a:pPr indent="-266700" lvl="0" marL="342900" rtl="0" algn="l">
              <a:spcBef>
                <a:spcPts val="240"/>
              </a:spcBef>
              <a:spcAft>
                <a:spcPts val="1200"/>
              </a:spcAft>
              <a:buClr>
                <a:schemeClr val="dk1"/>
              </a:buClr>
              <a:buSzPts val="1200"/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DCQO vs DCQO+: Controlled Quantum Ablations</a:t>
            </a:r>
            <a:endParaRPr/>
          </a:p>
        </p:txBody>
      </p:sp>
      <p:sp>
        <p:nvSpPr>
          <p:cNvPr id="90" name="Google Shape;9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/>
              <a:t>Baseline DCQO (Tutorial / Cadavid):</a:t>
            </a:r>
            <a:endParaRPr b="1"/>
          </a:p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First-order Lie-Trotter product formula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Right-endpoint time discretization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Fixed Pauli-string ordering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/>
              <a:t>DCQO+ Upgrades (No Extra Quantum Depth):</a:t>
            </a:r>
            <a:endParaRPr b="1"/>
          </a:p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Midpoint time grid for CD angle evaluation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Forward / reverse Pauli ordering alternation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k-permutation Pauli ordering (randomized product formula lite)</a:t>
            </a:r>
            <a:endParaRPr/>
          </a:p>
          <a:p>
            <a:pPr indent="-174625" lvl="1" marL="742950" rtl="0" algn="l">
              <a:spcBef>
                <a:spcPts val="35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1" marL="0" rtl="0" algn="l">
              <a:spcBef>
                <a:spcPts val="35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 sz="1800"/>
              <a:t>Design Rationale:</a:t>
            </a:r>
            <a:endParaRPr b="1"/>
          </a:p>
          <a:p>
            <a:pPr indent="-342900" lvl="0" marL="457200" rtl="0" algn="l">
              <a:spcBef>
                <a:spcPts val="35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Improves discretization &amp; ordering error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Increases sampling diversity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Adds zero additional gates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120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PCE "Twist" Seeder</a:t>
            </a:r>
            <a:endParaRPr/>
          </a:p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Pauli Correlation Encoding (Sciorilli et al., 2025):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Qubit-efficient LABS encoding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n = ceil(log₄(N + 1)) qubits</a:t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Implementation Details (True to paper):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Brickwork ansatz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Relaxed LABS cost (Eq. 4)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L-BFGS-B multi-restart classical optimization</a:t>
            </a:r>
            <a:endParaRPr/>
          </a:p>
          <a:p>
            <a:pPr indent="-231140" lvl="0" marL="34290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Benchmark Result (N = 16):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PCE raw energy min = 24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QAOA / DCQO raw energy = 32-36</a:t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Execution: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numpy + scipy simulation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>
                <a:solidFill>
                  <a:srgbClr val="FF0000"/>
                </a:solidFill>
              </a:rPr>
              <a:t>No CUDA-Q</a:t>
            </a:r>
            <a:r>
              <a:rPr lang="en-US">
                <a:solidFill>
                  <a:srgbClr val="FF0000"/>
                </a:solidFill>
              </a:rPr>
              <a:t> </a:t>
            </a:r>
            <a:r>
              <a:rPr lang="en-US"/>
              <a:t>dependency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GPU Acceleration Results</a:t>
            </a:r>
            <a:endParaRPr/>
          </a:p>
        </p:txBody>
      </p:sp>
      <p:sp>
        <p:nvSpPr>
          <p:cNvPr id="102" name="Google Shape;102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Energy Evaluation Kernel: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CuPy RawKernel with shared-memory tree reduction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150-250X speedup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31-40 µs per batch (constant time)</a:t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MTS Delta-Energy Kernels: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Three incremental CUDA kernels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13-48X speedup over CPU</a:t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Robustness &amp; Scaling:</a:t>
            </a:r>
            <a:endParaRPr b="1"/>
          </a:p>
          <a:p>
            <a:pPr indent="-334327" lvl="0" marL="457200" rtl="0" algn="l">
              <a:spcBef>
                <a:spcPts val="352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OOM guard for large-N CUDA-Q seeders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US"/>
              <a:t>Benchmarks collected on NVIDIA L4 GPU</a:t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0"/>
              </a:spcAft>
              <a:buClr>
                <a:schemeClr val="dk1"/>
              </a:buClr>
              <a:buSzPct val="177777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52"/>
              </a:spcBef>
              <a:spcAft>
                <a:spcPts val="1200"/>
              </a:spcAft>
              <a:buClr>
                <a:schemeClr val="dk1"/>
              </a:buClr>
              <a:buSzPct val="177777"/>
              <a:buNone/>
            </a:pPr>
            <a:r>
              <a:rPr b="1" lang="en-US"/>
              <a:t>GPU acceleration reference:</a:t>
            </a:r>
            <a:br>
              <a:rPr lang="en-US"/>
            </a:br>
            <a:r>
              <a:rPr lang="en-US"/>
              <a:t>Zhang et al., </a:t>
            </a:r>
            <a:r>
              <a:rPr i="1" lang="en-US"/>
              <a:t>“Massively Parallel Memetic Tabu Search for the Low Autocorrelation Binary Sequences Problem,”</a:t>
            </a:r>
            <a:r>
              <a:rPr lang="en-US"/>
              <a:t> 2025.</a:t>
            </a:r>
            <a:endParaRPr/>
          </a:p>
        </p:txBody>
      </p:sp>
      <p:pic>
        <p:nvPicPr>
          <p:cNvPr id="103" name="Google Shape;103;p6"/>
          <p:cNvPicPr preferRelativeResize="0"/>
          <p:nvPr/>
        </p:nvPicPr>
        <p:blipFill rotWithShape="1">
          <a:blip r:embed="rId3">
            <a:alphaModFix/>
          </a:blip>
          <a:srcRect b="0" l="0" r="50487" t="0"/>
          <a:stretch/>
        </p:blipFill>
        <p:spPr>
          <a:xfrm>
            <a:off x="5796500" y="2518750"/>
            <a:ext cx="2993103" cy="2688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"/>
          <p:cNvSpPr txBox="1"/>
          <p:nvPr>
            <p:ph type="title"/>
          </p:nvPr>
        </p:nvSpPr>
        <p:spPr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MTS Throughput Scaling with N</a:t>
            </a:r>
            <a:endParaRPr/>
          </a:p>
        </p:txBody>
      </p:sp>
      <p:pic>
        <p:nvPicPr>
          <p:cNvPr id="109" name="Google Shape;10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88425"/>
            <a:ext cx="8839198" cy="4891733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7"/>
          <p:cNvSpPr txBox="1"/>
          <p:nvPr/>
        </p:nvSpPr>
        <p:spPr>
          <a:xfrm>
            <a:off x="354250" y="6271950"/>
            <a:ext cx="8441400" cy="3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* Throughput decays exponentially N for CPU, while GPU remains stable</a:t>
            </a:r>
            <a:endParaRPr sz="15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c91b8c5b5_2_14"/>
          <p:cNvSpPr/>
          <p:nvPr/>
        </p:nvSpPr>
        <p:spPr>
          <a:xfrm>
            <a:off x="1" y="857250"/>
            <a:ext cx="9143700" cy="562500"/>
          </a:xfrm>
          <a:prstGeom prst="rect">
            <a:avLst/>
          </a:prstGeom>
          <a:solidFill>
            <a:schemeClr val="accent3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bc91b8c5b5_2_14"/>
          <p:cNvSpPr/>
          <p:nvPr/>
        </p:nvSpPr>
        <p:spPr>
          <a:xfrm>
            <a:off x="480061" y="909132"/>
            <a:ext cx="81837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Seed quality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g3bc91b8c5b5_2_14"/>
          <p:cNvSpPr/>
          <p:nvPr/>
        </p:nvSpPr>
        <p:spPr>
          <a:xfrm>
            <a:off x="480061" y="1213866"/>
            <a:ext cx="81837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Best raw seed energy before MTS</a:t>
            </a:r>
            <a:endParaRPr sz="15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bc91b8c5b5_2_14"/>
          <p:cNvSpPr/>
          <p:nvPr/>
        </p:nvSpPr>
        <p:spPr>
          <a:xfrm>
            <a:off x="994361" y="5941123"/>
            <a:ext cx="7155000" cy="720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9050">
              <a:srgbClr val="000000">
                <a:alpha val="1373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bc91b8c5b5_2_14"/>
          <p:cNvSpPr/>
          <p:nvPr/>
        </p:nvSpPr>
        <p:spPr>
          <a:xfrm>
            <a:off x="1200101" y="6064567"/>
            <a:ext cx="6743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5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Takeaway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g3bc91b8c5b5_2_14"/>
          <p:cNvSpPr/>
          <p:nvPr/>
        </p:nvSpPr>
        <p:spPr>
          <a:xfrm>
            <a:off x="1200101" y="6270307"/>
            <a:ext cx="6743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PCE produces seeds ~2X better than random across all N.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g3bc91b8c5b5_2_14" title="seed_quality_by_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5025" y="1603825"/>
            <a:ext cx="6933526" cy="412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c91b8c5b5_2_151"/>
          <p:cNvSpPr/>
          <p:nvPr/>
        </p:nvSpPr>
        <p:spPr>
          <a:xfrm>
            <a:off x="1" y="857250"/>
            <a:ext cx="9143700" cy="562500"/>
          </a:xfrm>
          <a:prstGeom prst="rect">
            <a:avLst/>
          </a:prstGeom>
          <a:solidFill>
            <a:schemeClr val="accent3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g3bc91b8c5b5_2_151"/>
          <p:cNvSpPr/>
          <p:nvPr/>
        </p:nvSpPr>
        <p:spPr>
          <a:xfrm>
            <a:off x="480061" y="909132"/>
            <a:ext cx="81837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Initial vs Final Energy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g3bc91b8c5b5_2_151"/>
          <p:cNvSpPr/>
          <p:nvPr/>
        </p:nvSpPr>
        <p:spPr>
          <a:xfrm>
            <a:off x="480061" y="1213866"/>
            <a:ext cx="81837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Best raw seed energy before MTS vs after</a:t>
            </a:r>
            <a:endParaRPr sz="15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bc91b8c5b5_2_151"/>
          <p:cNvSpPr/>
          <p:nvPr/>
        </p:nvSpPr>
        <p:spPr>
          <a:xfrm>
            <a:off x="994361" y="5941123"/>
            <a:ext cx="7155000" cy="720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9050">
              <a:srgbClr val="000000">
                <a:alpha val="1373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g3bc91b8c5b5_2_151"/>
          <p:cNvSpPr/>
          <p:nvPr/>
        </p:nvSpPr>
        <p:spPr>
          <a:xfrm>
            <a:off x="1200101" y="6064567"/>
            <a:ext cx="6743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5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Takeaway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g3bc91b8c5b5_2_151"/>
          <p:cNvSpPr/>
          <p:nvPr/>
        </p:nvSpPr>
        <p:spPr>
          <a:xfrm>
            <a:off x="1061500" y="6270375"/>
            <a:ext cx="7025100" cy="30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Final seed energy is the same for all seeds (except for PCE for larger N, potential advantage)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g3bc91b8c5b5_2_151" title="initial_vs_final_N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5850" y="1768932"/>
            <a:ext cx="7851901" cy="3890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c91b8c5b5_2_78"/>
          <p:cNvSpPr/>
          <p:nvPr/>
        </p:nvSpPr>
        <p:spPr>
          <a:xfrm>
            <a:off x="1" y="857250"/>
            <a:ext cx="9143700" cy="562500"/>
          </a:xfrm>
          <a:prstGeom prst="rect">
            <a:avLst/>
          </a:prstGeom>
          <a:solidFill>
            <a:schemeClr val="accent3"/>
          </a:solidFill>
          <a:ln cap="flat" cmpd="sng" w="127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bc91b8c5b5_2_78"/>
          <p:cNvSpPr/>
          <p:nvPr/>
        </p:nvSpPr>
        <p:spPr>
          <a:xfrm>
            <a:off x="480061" y="921059"/>
            <a:ext cx="81837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Final energy after MTS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2" name="Google Shape;142;g3bc91b8c5b5_2_78"/>
          <p:cNvGrpSpPr/>
          <p:nvPr/>
        </p:nvGrpSpPr>
        <p:grpSpPr>
          <a:xfrm>
            <a:off x="195350" y="4350273"/>
            <a:ext cx="3120316" cy="1604705"/>
            <a:chOff x="-1080898" y="6444356"/>
            <a:chExt cx="6453600" cy="1509600"/>
          </a:xfrm>
        </p:grpSpPr>
        <p:sp>
          <p:nvSpPr>
            <p:cNvPr id="143" name="Google Shape;143;g3bc91b8c5b5_2_78"/>
            <p:cNvSpPr/>
            <p:nvPr/>
          </p:nvSpPr>
          <p:spPr>
            <a:xfrm>
              <a:off x="-1080898" y="6444356"/>
              <a:ext cx="6453600" cy="1509600"/>
            </a:xfrm>
            <a:prstGeom prst="rect">
              <a:avLst/>
            </a:prstGeom>
            <a:solidFill>
              <a:srgbClr val="FFFFFF"/>
            </a:solidFill>
            <a:ln cap="flat" cmpd="sng" w="1217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6531" rotWithShape="0" algn="bl" dir="2700000" dist="18266">
                <a:srgbClr val="000000">
                  <a:alpha val="13730"/>
                </a:srgbClr>
              </a:outerShdw>
            </a:effectLst>
          </p:spPr>
          <p:txBody>
            <a:bodyPr anchorCtr="0" anchor="t" bIns="43825" lIns="87650" spcFirstLastPara="1" rIns="87650" wrap="square" tIns="438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9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g3bc91b8c5b5_2_78"/>
            <p:cNvSpPr/>
            <p:nvPr/>
          </p:nvSpPr>
          <p:spPr>
            <a:xfrm>
              <a:off x="-895330" y="6543297"/>
              <a:ext cx="6082200" cy="18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3825" lIns="87650" spcFirstLastPara="1" rIns="87650" wrap="square" tIns="4382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65">
                  <a:solidFill>
                    <a:srgbClr val="2563EB"/>
                  </a:solidFill>
                  <a:latin typeface="Calibri"/>
                  <a:ea typeface="Calibri"/>
                  <a:cs typeface="Calibri"/>
                  <a:sym typeface="Calibri"/>
                </a:rPr>
                <a:t>Scaling Note</a:t>
              </a:r>
              <a:endParaRPr sz="196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g3bc91b8c5b5_2_78"/>
            <p:cNvSpPr/>
            <p:nvPr/>
          </p:nvSpPr>
          <p:spPr>
            <a:xfrm>
              <a:off x="-895324" y="6960338"/>
              <a:ext cx="6082200" cy="728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3825" lIns="87650" spcFirstLastPara="1" rIns="87650" wrap="square" tIns="4382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42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N = 30 was the largest N for which the statevector could fit on 80 GB of VRAM given a 2.5x safety net. At N = 31, the state vector is 32 GB x 2.5 &gt; 80</a:t>
              </a:r>
              <a:endParaRPr sz="124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6" name="Google Shape;146;g3bc91b8c5b5_2_78" title="results_table.png"/>
          <p:cNvPicPr preferRelativeResize="0"/>
          <p:nvPr/>
        </p:nvPicPr>
        <p:blipFill rotWithShape="1">
          <a:blip r:embed="rId3">
            <a:alphaModFix/>
          </a:blip>
          <a:srcRect b="29467" l="0" r="0" t="36064"/>
          <a:stretch/>
        </p:blipFill>
        <p:spPr>
          <a:xfrm>
            <a:off x="-150" y="1564775"/>
            <a:ext cx="9144003" cy="160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g3bc91b8c5b5_2_78" title="final_energy_by_N.png"/>
          <p:cNvPicPr preferRelativeResize="0"/>
          <p:nvPr/>
        </p:nvPicPr>
        <p:blipFill rotWithShape="1">
          <a:blip r:embed="rId4">
            <a:alphaModFix/>
          </a:blip>
          <a:srcRect b="0" l="0" r="0" t="5114"/>
          <a:stretch/>
        </p:blipFill>
        <p:spPr>
          <a:xfrm>
            <a:off x="3645675" y="3169375"/>
            <a:ext cx="5359177" cy="30258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bc91b8c5b5_2_78"/>
          <p:cNvSpPr txBox="1"/>
          <p:nvPr/>
        </p:nvSpPr>
        <p:spPr>
          <a:xfrm>
            <a:off x="4997400" y="3314400"/>
            <a:ext cx="1669200" cy="9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seed quality matters more as N grows</a:t>
            </a:r>
            <a:endParaRPr sz="16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49" name="Google Shape;149;g3bc91b8c5b5_2_78"/>
          <p:cNvCxnSpPr>
            <a:stCxn id="148" idx="3"/>
          </p:cNvCxnSpPr>
          <p:nvPr/>
        </p:nvCxnSpPr>
        <p:spPr>
          <a:xfrm flipH="1" rot="10800000">
            <a:off x="6666600" y="3678150"/>
            <a:ext cx="1741800" cy="12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"/>
          <p:cNvSpPr/>
          <p:nvPr/>
        </p:nvSpPr>
        <p:spPr>
          <a:xfrm>
            <a:off x="1" y="857250"/>
            <a:ext cx="9143771" cy="562356"/>
          </a:xfrm>
          <a:prstGeom prst="rect">
            <a:avLst/>
          </a:prstGeom>
          <a:solidFill>
            <a:schemeClr val="accent3"/>
          </a:solidFill>
          <a:ln cap="flat" cmpd="sng" w="127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0"/>
          <p:cNvSpPr/>
          <p:nvPr/>
        </p:nvSpPr>
        <p:spPr>
          <a:xfrm>
            <a:off x="480061" y="921059"/>
            <a:ext cx="81837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Runtime Breakdown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/>
          <p:nvPr/>
        </p:nvSpPr>
        <p:spPr>
          <a:xfrm>
            <a:off x="480061" y="1213866"/>
            <a:ext cx="8183651" cy="1783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75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Time to solution</a:t>
            </a:r>
            <a:endParaRPr sz="13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994511" y="5929175"/>
            <a:ext cx="7155000" cy="720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2700000" dist="19050">
              <a:srgbClr val="000000">
                <a:alpha val="1373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1200251" y="6052619"/>
            <a:ext cx="67434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5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Takeaway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1200251" y="6258359"/>
            <a:ext cx="6743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7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GPU MTS is fast and stable; some seeders (notably PCE) trade compute time for higher-quality starting points.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10" title="runtime_breakdown_N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500" y="1543320"/>
            <a:ext cx="7154998" cy="42621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c91b8c5b5_2_170"/>
          <p:cNvSpPr/>
          <p:nvPr/>
        </p:nvSpPr>
        <p:spPr>
          <a:xfrm>
            <a:off x="1" y="857250"/>
            <a:ext cx="9143700" cy="562500"/>
          </a:xfrm>
          <a:prstGeom prst="rect">
            <a:avLst/>
          </a:prstGeom>
          <a:solidFill>
            <a:schemeClr val="accent3"/>
          </a:solidFill>
          <a:ln cap="flat" cmpd="sng" w="127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bc91b8c5b5_2_170"/>
          <p:cNvSpPr/>
          <p:nvPr/>
        </p:nvSpPr>
        <p:spPr>
          <a:xfrm>
            <a:off x="480061" y="921059"/>
            <a:ext cx="81837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Time vs Seed Quality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9" name="Google Shape;169;g3bc91b8c5b5_2_170"/>
          <p:cNvGrpSpPr/>
          <p:nvPr/>
        </p:nvGrpSpPr>
        <p:grpSpPr>
          <a:xfrm>
            <a:off x="1514777" y="5960412"/>
            <a:ext cx="6114141" cy="664101"/>
            <a:chOff x="-1080899" y="6444326"/>
            <a:chExt cx="6453600" cy="624742"/>
          </a:xfrm>
        </p:grpSpPr>
        <p:sp>
          <p:nvSpPr>
            <p:cNvPr id="170" name="Google Shape;170;g3bc91b8c5b5_2_170"/>
            <p:cNvSpPr/>
            <p:nvPr/>
          </p:nvSpPr>
          <p:spPr>
            <a:xfrm>
              <a:off x="-1080899" y="6444326"/>
              <a:ext cx="6453600" cy="618600"/>
            </a:xfrm>
            <a:prstGeom prst="rect">
              <a:avLst/>
            </a:prstGeom>
            <a:solidFill>
              <a:srgbClr val="FFFFFF"/>
            </a:solidFill>
            <a:ln cap="flat" cmpd="sng" w="1217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36531" rotWithShape="0" algn="bl" dir="2700000" dist="18266">
                <a:srgbClr val="000000">
                  <a:alpha val="13730"/>
                </a:srgbClr>
              </a:outerShdw>
            </a:effectLst>
          </p:spPr>
          <p:txBody>
            <a:bodyPr anchorCtr="0" anchor="t" bIns="43825" lIns="87650" spcFirstLastPara="1" rIns="87650" wrap="square" tIns="438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9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g3bc91b8c5b5_2_170"/>
            <p:cNvSpPr/>
            <p:nvPr/>
          </p:nvSpPr>
          <p:spPr>
            <a:xfrm>
              <a:off x="-895330" y="6543297"/>
              <a:ext cx="6082200" cy="18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3825" lIns="87650" spcFirstLastPara="1" rIns="87650" wrap="square" tIns="4382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65">
                  <a:solidFill>
                    <a:srgbClr val="2563EB"/>
                  </a:solidFill>
                  <a:latin typeface="Calibri"/>
                  <a:ea typeface="Calibri"/>
                  <a:cs typeface="Calibri"/>
                  <a:sym typeface="Calibri"/>
                </a:rPr>
                <a:t>Observation</a:t>
              </a:r>
              <a:endParaRPr sz="1965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g3bc91b8c5b5_2_170"/>
            <p:cNvSpPr/>
            <p:nvPr/>
          </p:nvSpPr>
          <p:spPr>
            <a:xfrm>
              <a:off x="-895330" y="6728868"/>
              <a:ext cx="6082200" cy="34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3825" lIns="87650" spcFirstLastPara="1" rIns="87650" wrap="square" tIns="4382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42">
                  <a:solidFill>
                    <a:srgbClr val="1F2937"/>
                  </a:solidFill>
                  <a:latin typeface="Calibri"/>
                  <a:ea typeface="Calibri"/>
                  <a:cs typeface="Calibri"/>
                  <a:sym typeface="Calibri"/>
                </a:rPr>
                <a:t>PCE wins in the seed quality, but requires significant time reduction work</a:t>
              </a:r>
              <a:endParaRPr sz="124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73" name="Google Shape;173;g3bc91b8c5b5_2_170" title="cost_vs_benef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9088" y="1633140"/>
            <a:ext cx="6885825" cy="4113851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bc91b8c5b5_2_170"/>
          <p:cNvSpPr/>
          <p:nvPr/>
        </p:nvSpPr>
        <p:spPr>
          <a:xfrm>
            <a:off x="480061" y="1213866"/>
            <a:ext cx="8183700" cy="1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75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Best Seed Energy vs </a:t>
            </a:r>
            <a:r>
              <a:rPr lang="en-US" sz="1375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Time to solution</a:t>
            </a:r>
            <a:endParaRPr sz="13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PRD Success Metrics </a:t>
            </a: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Checklist (Evidence from Bench Runs)</a:t>
            </a:r>
            <a:endParaRPr/>
          </a:p>
        </p:txBody>
      </p:sp>
      <p:sp>
        <p:nvSpPr>
          <p:cNvPr id="181" name="Google Shape;181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Pts val="1800"/>
              <a:buNone/>
            </a:pPr>
            <a:r>
              <a:rPr b="1" lang="en-US"/>
              <a:t>Metric 1 </a:t>
            </a:r>
            <a:r>
              <a:rPr b="1" lang="en-US" sz="1800"/>
              <a:t>(GPU speedup ≥5</a:t>
            </a:r>
            <a:r>
              <a:rPr b="1" lang="en-US"/>
              <a:t>X</a:t>
            </a:r>
            <a:r>
              <a:rPr b="1" lang="en-US" sz="1800"/>
              <a:t>) -</a:t>
            </a:r>
            <a:r>
              <a:rPr b="1" lang="en-US" sz="1800"/>
              <a:t> </a:t>
            </a:r>
            <a:r>
              <a:rPr b="1" lang="en-US" sz="1800">
                <a:solidFill>
                  <a:srgbClr val="76B900"/>
                </a:solidFill>
              </a:rPr>
              <a:t>Achieved</a:t>
            </a:r>
            <a:endParaRPr>
              <a:solidFill>
                <a:srgbClr val="76B900"/>
              </a:solidFill>
            </a:endParaRPr>
          </a:p>
          <a:p>
            <a:pPr indent="0" lvl="1" marL="45720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i="1" lang="en-US" sz="1400"/>
              <a:t>Evidence: energy kernel 150</a:t>
            </a:r>
            <a:r>
              <a:rPr i="1" lang="en-US"/>
              <a:t>-</a:t>
            </a:r>
            <a:r>
              <a:rPr i="1" lang="en-US" sz="1400"/>
              <a:t>250×; MTS delta-energy 13</a:t>
            </a:r>
            <a:r>
              <a:rPr i="1" lang="en-US"/>
              <a:t>-</a:t>
            </a:r>
            <a:r>
              <a:rPr i="1" lang="en-US" sz="1400"/>
              <a:t>48× (L4 benchmarks).</a:t>
            </a:r>
            <a:endParaRPr i="1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00B050"/>
              </a:buClr>
              <a:buSzPts val="1800"/>
              <a:buNone/>
            </a:pPr>
            <a:r>
              <a:rPr b="1" lang="en-US" sz="1800"/>
              <a:t>Metric 2 (Scale: N=20</a:t>
            </a:r>
            <a:r>
              <a:rPr b="1" lang="en-US"/>
              <a:t>-</a:t>
            </a:r>
            <a:r>
              <a:rPr b="1" lang="en-US" sz="1800"/>
              <a:t>30 end-to-end) </a:t>
            </a:r>
            <a:r>
              <a:rPr b="1" lang="en-US"/>
              <a:t>-</a:t>
            </a:r>
            <a:r>
              <a:rPr b="1" lang="en-US" sz="1800"/>
              <a:t> </a:t>
            </a:r>
            <a:r>
              <a:rPr b="1" lang="en-US">
                <a:solidFill>
                  <a:srgbClr val="76B900"/>
                </a:solidFill>
              </a:rPr>
              <a:t>Achieved</a:t>
            </a:r>
            <a:endParaRPr>
              <a:solidFill>
                <a:srgbClr val="76B900"/>
              </a:solidFill>
            </a:endParaRPr>
          </a:p>
          <a:p>
            <a:pPr indent="0" lvl="1" marL="45720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0" i="1" lang="en-US" sz="1400"/>
              <a:t>Evidence: Gate 3 GPU matrix includes N=20 &amp; N=30 runs + logs/plots.</a:t>
            </a:r>
            <a:endParaRPr i="1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00B050"/>
              </a:buClr>
              <a:buSzPts val="1800"/>
              <a:buNone/>
            </a:pPr>
            <a:r>
              <a:rPr b="1" lang="en-US" sz="1800"/>
              <a:t>Metric 3 (Seeder comparison: Random vs DCQO vs DCQO+) </a:t>
            </a:r>
            <a:r>
              <a:rPr b="1" lang="en-US"/>
              <a:t>-</a:t>
            </a:r>
            <a:r>
              <a:rPr b="1" lang="en-US" sz="1800"/>
              <a:t> </a:t>
            </a:r>
            <a:r>
              <a:rPr b="1" lang="en-US">
                <a:solidFill>
                  <a:srgbClr val="76B900"/>
                </a:solidFill>
              </a:rPr>
              <a:t>Achieved</a:t>
            </a:r>
            <a:endParaRPr>
              <a:solidFill>
                <a:schemeClr val="dk2"/>
              </a:solidFill>
            </a:endParaRPr>
          </a:p>
          <a:p>
            <a:pPr indent="0" lvl="1" marL="45720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0" i="1" lang="en-US" sz="1400"/>
              <a:t>Evidence: convergence traces + seed &amp; final-energy plots saved in Gate 3 artifacts.</a:t>
            </a:r>
            <a:endParaRPr i="1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00B050"/>
              </a:buClr>
              <a:buSzPts val="1800"/>
              <a:buNone/>
            </a:pPr>
            <a:r>
              <a:rPr b="1" lang="en-US" sz="1800"/>
              <a:t>Metric 4 (Large N: reach N≥40) </a:t>
            </a:r>
            <a:r>
              <a:rPr b="1" lang="en-US"/>
              <a:t>-</a:t>
            </a:r>
            <a:r>
              <a:rPr b="1" lang="en-US" sz="1800"/>
              <a:t> </a:t>
            </a:r>
            <a:r>
              <a:rPr b="1" lang="en-US">
                <a:solidFill>
                  <a:srgbClr val="76B900"/>
                </a:solidFill>
              </a:rPr>
              <a:t>Achieved</a:t>
            </a:r>
            <a:r>
              <a:rPr b="1" lang="en-US" sz="1800"/>
              <a:t> </a:t>
            </a:r>
            <a:endParaRPr b="1" sz="1800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 sz="1800"/>
              <a:t>	</a:t>
            </a:r>
            <a:r>
              <a:rPr b="0" i="1" lang="en-US" sz="1400"/>
              <a:t>Evidence: N=40 runs completed for Random &amp; PCE; CUDA-Q seeders skipped via OOM guard.</a:t>
            </a:r>
            <a:endParaRPr i="1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00B050"/>
              </a:buClr>
              <a:buSzPts val="1800"/>
              <a:buNone/>
            </a:pPr>
            <a:r>
              <a:rPr b="1" lang="en-US" sz="1800"/>
              <a:t>Metric 5 (PCE seeds implemented) </a:t>
            </a:r>
            <a:r>
              <a:rPr b="1" lang="en-US"/>
              <a:t>-</a:t>
            </a:r>
            <a:r>
              <a:rPr b="1" lang="en-US" sz="1800"/>
              <a:t> </a:t>
            </a:r>
            <a:r>
              <a:rPr b="1" lang="en-US">
                <a:solidFill>
                  <a:srgbClr val="76B900"/>
                </a:solidFill>
              </a:rPr>
              <a:t>Achieved</a:t>
            </a:r>
            <a:endParaRPr>
              <a:solidFill>
                <a:schemeClr val="dk2"/>
              </a:solidFill>
            </a:endParaRPr>
          </a:p>
          <a:p>
            <a:pPr indent="0" lvl="1" marL="457200" rtl="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b="0" i="1" lang="en-US" sz="1400"/>
              <a:t>Evidence: PCE seeder integrated.</a:t>
            </a:r>
            <a:endParaRPr b="0" i="1" sz="1400"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00B050"/>
              </a:buClr>
              <a:buSzPts val="1800"/>
              <a:buNone/>
            </a:pPr>
            <a:r>
              <a:rPr b="1" lang="en-US" sz="1800"/>
              <a:t>Metric 6 (Quantum advantage signal at N≥25 vs Random median) </a:t>
            </a:r>
            <a:r>
              <a:rPr b="1" lang="en-US"/>
              <a:t>-</a:t>
            </a:r>
            <a:r>
              <a:rPr b="1" lang="en-US" sz="1800"/>
              <a:t> </a:t>
            </a:r>
            <a:r>
              <a:rPr b="1" lang="en-US">
                <a:solidFill>
                  <a:srgbClr val="76B900"/>
                </a:solidFill>
              </a:rPr>
              <a:t>Achieved</a:t>
            </a:r>
            <a:endParaRPr>
              <a:solidFill>
                <a:schemeClr val="dk2"/>
              </a:solidFill>
            </a:endParaRPr>
          </a:p>
          <a:p>
            <a:pPr indent="0" lvl="1" marL="457200" rtl="0" algn="l">
              <a:spcBef>
                <a:spcPts val="28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</a:pPr>
            <a:r>
              <a:rPr b="0" i="1" lang="en-US" sz="1400"/>
              <a:t>Evidence: At N=40 with PCE.</a:t>
            </a:r>
            <a:endParaRPr b="0" i="1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Takeaways</a:t>
            </a:r>
            <a:endParaRPr/>
          </a:p>
        </p:txBody>
      </p:sp>
      <p:sp>
        <p:nvSpPr>
          <p:cNvPr id="187" name="Google Shape;18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i="1" lang="en-US"/>
              <a:t>Total time to minimum is best with QAOA and random seeding at N &lt;= 30</a:t>
            </a:r>
            <a:endParaRPr b="1" i="1"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 sz="1800"/>
              <a:t>PCE </a:t>
            </a:r>
            <a:r>
              <a:rPr b="1" lang="en-US" sz="1800"/>
              <a:t>is the strongest seeder if time is cheap</a:t>
            </a:r>
            <a:r>
              <a:rPr b="1" lang="en-US" sz="1800"/>
              <a:t>: </a:t>
            </a:r>
            <a:r>
              <a:rPr lang="en-US" sz="1800"/>
              <a:t>~2X better raw seeds at every N, and the only seeder to beat the baseline on final energy at N=40 (108 vs 116, 7% improvement)                                                                                                                      </a:t>
            </a:r>
            <a:endParaRPr sz="1800"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 sz="1800"/>
              <a:t>Seed quality matters more as problem size grows</a:t>
            </a:r>
            <a:r>
              <a:rPr lang="en-US" sz="1800"/>
              <a:t> - at N=20/30, MTS closes the gap; at N=40 it can't, and this gap should widen further   </a:t>
            </a:r>
            <a:endParaRPr sz="1800"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 sz="1800"/>
              <a:t>GPU acceleration</a:t>
            </a:r>
            <a:r>
              <a:rPr lang="en-US" sz="1800"/>
              <a:t> (150–250</a:t>
            </a:r>
            <a:r>
              <a:rPr lang="en-US"/>
              <a:t>X</a:t>
            </a:r>
            <a:r>
              <a:rPr lang="en-US" sz="1800"/>
              <a:t> energy, 13–48</a:t>
            </a:r>
            <a:r>
              <a:rPr lang="en-US"/>
              <a:t>X</a:t>
            </a:r>
            <a:r>
              <a:rPr lang="en-US" sz="1800"/>
              <a:t> MTS delta) is what </a:t>
            </a:r>
            <a:r>
              <a:rPr b="1" lang="en-US" sz="1800"/>
              <a:t>makes the 3s budget viable</a:t>
            </a:r>
            <a:r>
              <a:rPr lang="en-US" sz="1800"/>
              <a:t> at N=40                              </a:t>
            </a:r>
            <a:endParaRPr sz="1800"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 sz="1800"/>
              <a:t>DCQO+ zero-depth trotter modifications show no measurable advantage</a:t>
            </a:r>
            <a:r>
              <a:rPr lang="en-US" sz="1800"/>
              <a:t> over baseline DCQO - the discretization changes don't shift the seed distribution                                                                                                                             </a:t>
            </a:r>
            <a:endParaRPr sz="1800"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 sz="1800"/>
              <a:t>30 tests across 8 files</a:t>
            </a:r>
            <a:r>
              <a:rPr lang="en-US" sz="1800"/>
              <a:t>, layered from brute-force oracle through full CPU/GPU convergence parity - </a:t>
            </a:r>
            <a:r>
              <a:rPr b="1" lang="en-US" sz="1800"/>
              <a:t>correctness is not optional </a:t>
            </a:r>
            <a:endParaRPr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c91b8c5b5_1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</a:t>
            </a: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xt Steps</a:t>
            </a:r>
            <a:endParaRPr/>
          </a:p>
        </p:txBody>
      </p:sp>
      <p:sp>
        <p:nvSpPr>
          <p:cNvPr id="193" name="Google Shape;193;g3bc91b8c5b5_1_11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/>
              <a:t>Scale to N=60+ to confirm PCE's</a:t>
            </a:r>
            <a:r>
              <a:rPr lang="en-US"/>
              <a:t> advantage widens with problem size </a:t>
            </a:r>
            <a:endParaRPr/>
          </a:p>
          <a:p>
            <a:pPr indent="-298450" lvl="1" marL="742950" rtl="0" algn="l">
              <a:spcBef>
                <a:spcPts val="400"/>
              </a:spcBef>
              <a:spcAft>
                <a:spcPts val="0"/>
              </a:spcAft>
              <a:buSzPts val="2000"/>
              <a:buChar char="○"/>
            </a:pPr>
            <a:r>
              <a:rPr lang="en-US" sz="1600"/>
              <a:t>Distributed statevector (multi-GPU / multi-node sharding)    </a:t>
            </a:r>
            <a:r>
              <a:rPr lang="en-US"/>
              <a:t>      </a:t>
            </a:r>
            <a:endParaRPr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/>
              <a:t>Amortize PCE seeder cost</a:t>
            </a:r>
            <a:r>
              <a:rPr lang="en-US"/>
              <a:t>: cache Pauli operator sets, parallelize restarts                                                               </a:t>
            </a:r>
            <a:endParaRPr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/>
              <a:t>Run QAOA/DCQO on real CUDA-Q</a:t>
            </a:r>
            <a:r>
              <a:rPr lang="en-US"/>
              <a:t> hardware backends (QPU or tensor-network) to bypass the state-vector memory wall at N&gt;30                   </a:t>
            </a:r>
            <a:endParaRPr/>
          </a:p>
          <a:p>
            <a:pPr indent="-3556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b="1" lang="en-US"/>
              <a:t>Explore PCE layer-depth tradeoffs</a:t>
            </a:r>
            <a:r>
              <a:rPr lang="en-US"/>
              <a:t>: current default is 15 layers, paper suggests diminishing returns beyond ~20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c91b8c5b5_1_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>
                <a:latin typeface="Calibri"/>
                <a:ea typeface="Calibri"/>
                <a:cs typeface="Calibri"/>
                <a:sym typeface="Calibri"/>
              </a:rPr>
              <a:t>Personal </a:t>
            </a:r>
            <a:r>
              <a:rPr lang="en-US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Takeaways</a:t>
            </a:r>
            <a:endParaRPr/>
          </a:p>
        </p:txBody>
      </p:sp>
      <p:sp>
        <p:nvSpPr>
          <p:cNvPr id="199" name="Google Shape;199;g3bc91b8c5b5_1_6"/>
          <p:cNvSpPr txBox="1"/>
          <p:nvPr>
            <p:ph idx="1" type="body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n-US"/>
              <a:t>Ben</a:t>
            </a:r>
            <a:endParaRPr b="1"/>
          </a:p>
          <a:p>
            <a:pPr indent="-285750" lvl="1" marL="74295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-US"/>
              <a:t>GPU time is expensive, but necessary to reach regimes where scaling behavior is meaningful.</a:t>
            </a:r>
            <a:endParaRPr/>
          </a:p>
          <a:p>
            <a:pPr indent="-285750" lvl="1" marL="74295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</a:pPr>
            <a:r>
              <a:rPr lang="en-US"/>
              <a:t>Without removing classical bottlenecks, quantum improvements cannot be measured fairly.</a:t>
            </a:r>
            <a:endParaRPr/>
          </a:p>
          <a:p>
            <a:pPr indent="-355600" lvl="0" marL="342900" rtl="0" algn="l">
              <a:spcBef>
                <a:spcPts val="1200"/>
              </a:spcBef>
              <a:spcAft>
                <a:spcPts val="0"/>
              </a:spcAft>
              <a:buSzPts val="2000"/>
              <a:buChar char="●"/>
            </a:pPr>
            <a:r>
              <a:rPr b="1" lang="en-US"/>
              <a:t>Katya</a:t>
            </a:r>
            <a:endParaRPr b="1"/>
          </a:p>
          <a:p>
            <a:pPr indent="-298450" lvl="1" marL="742950" rtl="0" algn="l">
              <a:spcBef>
                <a:spcPts val="400"/>
              </a:spcBef>
              <a:spcAft>
                <a:spcPts val="0"/>
              </a:spcAft>
              <a:buSzPts val="2000"/>
              <a:buChar char="○"/>
            </a:pPr>
            <a:r>
              <a:rPr lang="en-US"/>
              <a:t>Structured verification catches real bugs. The gate pipeline meant issues surfaced early.</a:t>
            </a:r>
            <a:endParaRPr/>
          </a:p>
          <a:p>
            <a:pPr indent="-298450" lvl="1" marL="7429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</a:pPr>
            <a:r>
              <a:rPr lang="en-US"/>
              <a:t>Living documents work. Claude-revisions.md as a shared checklist kept work focused. Tracking 9 items from identification to completion is a lightweight process that paid off.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Ben Anstrom</dc:creator>
</cp:coreProperties>
</file>