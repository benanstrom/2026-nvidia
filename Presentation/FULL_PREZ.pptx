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251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baseline (random)</c:v>
                </c:pt>
              </c:strCache>
            </c:strRef>
          </c:tx>
          <c:spPr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</c:v>
                </c:pt>
                <c:pt idx="1">
                  <c:v>30</c:v>
                </c:pt>
                <c:pt idx="2">
                  <c:v>40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988.226</c:v>
                </c:pt>
                <c:pt idx="1">
                  <c:v>447.44900000000001</c:v>
                </c:pt>
                <c:pt idx="2">
                  <c:v>292.34800000000001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0D6-4658-AABE-F34E35EBEC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GPU baseline (random)</c:v>
                </c:pt>
              </c:strCache>
            </c:strRef>
          </c:tx>
          <c:spPr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</c:v>
                </c:pt>
                <c:pt idx="1">
                  <c:v>30</c:v>
                </c:pt>
                <c:pt idx="2">
                  <c:v>40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1635.365</c:v>
                </c:pt>
                <c:pt idx="1">
                  <c:v>1712.079</c:v>
                </c:pt>
                <c:pt idx="2">
                  <c:v>1691.33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0D6-4658-AABE-F34E35EBE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201058828489811"/>
          <c:y val="0.29443564798965349"/>
          <c:w val="0.21798941171510189"/>
          <c:h val="0.26016252044581384"/>
        </c:manualLayout>
      </c:layout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85895-8CE2-4143-93A0-8060E19C96B0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5C802C-005A-4CF6-943C-F642F904F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4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5A582-C236-E0BE-31FC-A702118A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667F4B-A5E0-0D2C-AEFD-686F7D05E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30EC41-7886-49F2-872C-73717F6BB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D9EDD-7323-58CE-3D16-A8E177C4C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35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Detailed evidence files:</a:t>
            </a:r>
          </a:p>
          <a:p>
            <a:endParaRPr/>
          </a:p>
          <a:p>
            <a:r>
              <a:t>Metric 1 (GPU speedup):</a:t>
            </a:r>
          </a:p>
          <a:p>
            <a:r>
              <a:t>- labs_hybrid_solver/Claude-revisions.md (Sections 1–2) contains benchmark tables:</a:t>
            </a:r>
          </a:p>
          <a:p>
            <a:r>
              <a:t>  • Energy kernel RawKernel: 157–252× speedup (31–40 µs per batch)</a:t>
            </a:r>
          </a:p>
          <a:p>
            <a:r>
              <a:t>  • Delta-energy MTS kernels: 12.9–47.9× speedup (100 iters)</a:t>
            </a:r>
          </a:p>
          <a:p>
            <a:r>
              <a:t>- labs_hybrid_solver/bench_energy_kernel.py and bench_delta_mts.py reproduce these benchmarks</a:t>
            </a:r>
          </a:p>
          <a:p>
            <a:r>
              <a:t>- labs_hybrid_solver/README.md GPU acceleration bullets</a:t>
            </a:r>
          </a:p>
          <a:p>
            <a:r>
              <a:t>- labs_hybrid_solver/team_submissions/PRESENTATION_OUTLINE.md repeats these numbers</a:t>
            </a:r>
          </a:p>
          <a:p>
            <a:endParaRPr/>
          </a:p>
          <a:p>
            <a:r>
              <a:t>Metric 2 (Scale N=20–30):</a:t>
            </a:r>
          </a:p>
          <a:p>
            <a:r>
              <a:t>- results/run_bench_20260201_052047/gate3_gpu_matrix/metrics.csv (rows for N=20 and N=30)</a:t>
            </a:r>
          </a:p>
          <a:p>
            <a:r>
              <a:t>- results/run_bench_20260201_052047/gate3_gpu_matrix/results_summary.md</a:t>
            </a:r>
          </a:p>
          <a:p>
            <a:endParaRPr/>
          </a:p>
          <a:p>
            <a:r>
              <a:t>Metric 3 (Seeder comparison):</a:t>
            </a:r>
          </a:p>
          <a:p>
            <a:r>
              <a:t>- results/run_bench_20260201_052047/gate3_gpu_matrix/artifacts/plots/</a:t>
            </a:r>
          </a:p>
          <a:p>
            <a:r>
              <a:t>  • seed_energy_hist.png</a:t>
            </a:r>
          </a:p>
          <a:p>
            <a:r>
              <a:t>  • final_energy_bar.png</a:t>
            </a:r>
          </a:p>
          <a:p>
            <a:r>
              <a:t>  • time_to_best.png</a:t>
            </a:r>
          </a:p>
          <a:p>
            <a:r>
              <a:t>  • runtime_breakdown.png</a:t>
            </a:r>
          </a:p>
          <a:p>
            <a:r>
              <a:t>- Per-condition traces: *_mts_trace.json and *_seed_energies.npy in Gate 3 artifacts/</a:t>
            </a:r>
          </a:p>
          <a:p>
            <a:endParaRPr/>
          </a:p>
          <a:p>
            <a:r>
              <a:t>Metric 4 (Large N ≥40):</a:t>
            </a:r>
          </a:p>
          <a:p>
            <a:r>
              <a:t>- Gate 3 metrics.csv includes N=40 runs for seeder=random and seeder=pce</a:t>
            </a:r>
          </a:p>
          <a:p>
            <a:r>
              <a:t>- OOM guard implementation: src/labs_hybrid/benchmarks.py (_would_oom)</a:t>
            </a:r>
          </a:p>
          <a:p>
            <a:r>
              <a:t>- OOM guard rationale: Claude-revisions.md (Section 6)</a:t>
            </a:r>
          </a:p>
          <a:p>
            <a:endParaRPr/>
          </a:p>
          <a:p>
            <a:r>
              <a:t>Metric 5 (PCE seeds):</a:t>
            </a:r>
          </a:p>
          <a:p>
            <a:r>
              <a:t>- Paper-accurate PCE implementation: src/labs_hybrid/seeders/pce_seeder.py</a:t>
            </a:r>
          </a:p>
          <a:p>
            <a:r>
              <a:t>- PCE completion details: Claude-revisions.md (Section 3)</a:t>
            </a:r>
          </a:p>
          <a:p>
            <a:r>
              <a:t>- Gate 2 GPU bring-up includes PCE at N=16: results/run_bench_20260201_052047/gate2_gpu_bringup/metrics.csv</a:t>
            </a:r>
          </a:p>
          <a:p>
            <a:r>
              <a:t>- Gate 3 includes PCE at N=20/30/40: results/run_bench_20260201_052047/gate3_gpu_matrix/metrics.csv</a:t>
            </a:r>
          </a:p>
          <a:p>
            <a:endParaRPr/>
          </a:p>
          <a:p>
            <a:r>
              <a:t>Metric 6 (Quantum advantage signal):</a:t>
            </a:r>
          </a:p>
          <a:p>
            <a:r>
              <a:t>- Gate 3 has only one run per seeder per N; no repeated trials to support a median claim.</a:t>
            </a:r>
          </a:p>
          <a:p>
            <a:r>
              <a:t>- At N=30 in Gate 3, best_final_energy is identical across all seeders; median advantage not shown.</a:t>
            </a:r>
          </a:p>
          <a:p>
            <a:r>
              <a:t>- Suggestion: run multiple rng_seed values per seeder at N=30+ and compute median(final_energy) under equal time budgets.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39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6064"/>
            <a:ext cx="7772400" cy="1470025"/>
          </a:xfrm>
        </p:spPr>
        <p:txBody>
          <a:bodyPr/>
          <a:lstStyle/>
          <a:p>
            <a:r>
              <a:rPr dirty="0"/>
              <a:t>GPU-Accelerated Hybrid Solver for the LABS Problem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81080"/>
            <a:ext cx="6400800" cy="3093181"/>
          </a:xfrm>
        </p:spPr>
        <p:txBody>
          <a:bodyPr>
            <a:normAutofit fontScale="55000" lnSpcReduction="20000"/>
          </a:bodyPr>
          <a:lstStyle/>
          <a:p>
            <a:endParaRPr sz="4400" dirty="0"/>
          </a:p>
          <a:p>
            <a:r>
              <a:rPr sz="2900" dirty="0"/>
              <a:t>We demonstrate that GPU-accelerated Memetic Tabu Search (MTS) with quantum-inspired seeding achieves better time-to-solution than classical baselines for the LABS problem.</a:t>
            </a:r>
          </a:p>
          <a:p>
            <a:endParaRPr dirty="0"/>
          </a:p>
          <a:p>
            <a:r>
              <a:rPr dirty="0"/>
              <a:t>MIT </a:t>
            </a:r>
            <a:r>
              <a:rPr dirty="0" err="1"/>
              <a:t>iQuHACK</a:t>
            </a:r>
            <a:r>
              <a:rPr dirty="0"/>
              <a:t> 2026 — NVIDIA LABS Challenge</a:t>
            </a:r>
            <a:endParaRPr lang="en-US" dirty="0"/>
          </a:p>
          <a:p>
            <a:endParaRPr dirty="0"/>
          </a:p>
          <a:p>
            <a:r>
              <a:rPr dirty="0"/>
              <a:t>Team: </a:t>
            </a:r>
            <a:r>
              <a:rPr lang="en-US" dirty="0" err="1"/>
              <a:t>AvoQados</a:t>
            </a:r>
            <a:endParaRPr lang="en-US" dirty="0"/>
          </a:p>
          <a:p>
            <a:endParaRPr lang="en-US" dirty="0"/>
          </a:p>
          <a:p>
            <a:r>
              <a:rPr lang="en-US" dirty="0"/>
              <a:t>Ben Anstrom — Technical Marketing &amp; GPU Acceleration Lead</a:t>
            </a:r>
          </a:p>
          <a:p>
            <a:r>
              <a:rPr lang="en-US" dirty="0"/>
              <a:t>Katya Mijatovic — Project Lead &amp; Quality Assurance Lead</a:t>
            </a:r>
          </a:p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5F5AD-BD6E-6052-D403-3C71F4AAF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0045"/>
            <a:ext cx="1395876" cy="16762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0F6AA-5407-3DD6-EDBD-3AFB118E5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3DD82-9671-A316-B881-5C019D2E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0452"/>
          </a:xfrm>
        </p:spPr>
        <p:txBody>
          <a:bodyPr>
            <a:normAutofit fontScale="90000"/>
          </a:bodyPr>
          <a:lstStyle/>
          <a:p>
            <a:r>
              <a:rPr dirty="0"/>
              <a:t>The Plan</a:t>
            </a:r>
            <a:r>
              <a:rPr lang="en-US" dirty="0"/>
              <a:t> – Seeding algorithms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45BAD-43D1-9567-4CF0-E50E5E8A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796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Random Seeding (Classical Baseline)</a:t>
            </a:r>
            <a:br>
              <a:rPr lang="en-US" sz="1400" dirty="0"/>
            </a:br>
            <a:r>
              <a:rPr lang="en-US" sz="1400" dirty="0"/>
              <a:t>– Uniformly random ±1 sequences used to establish the classical performance floor and validate MTS behavior.</a:t>
            </a:r>
          </a:p>
          <a:p>
            <a:pPr marL="0" indent="0">
              <a:buNone/>
            </a:pPr>
            <a:r>
              <a:rPr lang="en-US" sz="1400" b="1" dirty="0"/>
              <a:t>QAOA-Based Seeding</a:t>
            </a:r>
            <a:br>
              <a:rPr lang="en-US" sz="1400" dirty="0"/>
            </a:br>
            <a:r>
              <a:rPr lang="en-US" sz="1400" dirty="0"/>
              <a:t>– Canonical quantum baseline using shallow QAOA circuits to generate correlated bitstrings for LABS initialization.</a:t>
            </a:r>
          </a:p>
          <a:p>
            <a:pPr marL="0" indent="0">
              <a:buNone/>
            </a:pPr>
            <a:r>
              <a:rPr lang="en-US" sz="1400" b="1" dirty="0"/>
              <a:t>DCQO-Based Seeding (Challenge Template)</a:t>
            </a:r>
            <a:br>
              <a:rPr lang="en-US" sz="1400" dirty="0"/>
            </a:br>
            <a:r>
              <a:rPr lang="en-US" sz="1400" dirty="0"/>
              <a:t>– Digitized </a:t>
            </a:r>
            <a:r>
              <a:rPr lang="en-US" sz="1400" dirty="0" err="1"/>
              <a:t>Counterdiabatic</a:t>
            </a:r>
            <a:r>
              <a:rPr lang="en-US" sz="1400" dirty="0"/>
              <a:t> Quantum Optimization following Gómez-Cadavid et al., using low-depth </a:t>
            </a:r>
            <a:r>
              <a:rPr lang="en-US" sz="1400" dirty="0" err="1"/>
              <a:t>counterdiabatic</a:t>
            </a:r>
            <a:r>
              <a:rPr lang="en-US" sz="1400" dirty="0"/>
              <a:t> circuits to bias sampling toward low-energy LABS states.</a:t>
            </a:r>
          </a:p>
          <a:p>
            <a:pPr marL="0" indent="0">
              <a:buNone/>
            </a:pPr>
            <a:r>
              <a:rPr lang="en-US" sz="1400" b="1" dirty="0"/>
              <a:t>DCQO+ Seeding (Engineering Ablations)</a:t>
            </a:r>
            <a:br>
              <a:rPr lang="en-US" sz="1400" dirty="0"/>
            </a:br>
            <a:r>
              <a:rPr lang="en-US" sz="1400" dirty="0"/>
              <a:t>– Controlled upgrades to DCQO </a:t>
            </a:r>
            <a:r>
              <a:rPr lang="en-US" sz="1400" dirty="0" err="1"/>
              <a:t>trotterization</a:t>
            </a:r>
            <a:r>
              <a:rPr lang="en-US" sz="1400" dirty="0"/>
              <a:t> (midpoint time discretization, Pauli ordering alternation, k-permutation averaging) that improve sampling quality </a:t>
            </a:r>
            <a:r>
              <a:rPr lang="en-US" sz="1400" b="1" dirty="0"/>
              <a:t>without increasing circuit depth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1400" b="1" dirty="0"/>
              <a:t>PCE-Based Seeding (Twist Contribution)</a:t>
            </a:r>
            <a:br>
              <a:rPr lang="en-US" sz="1400" dirty="0"/>
            </a:br>
            <a:r>
              <a:rPr lang="en-US" sz="1400" dirty="0"/>
              <a:t>– Pauli Correlation Encoding (</a:t>
            </a:r>
            <a:r>
              <a:rPr lang="en-US" sz="1400" dirty="0" err="1"/>
              <a:t>Sciorilli</a:t>
            </a:r>
            <a:r>
              <a:rPr lang="en-US" sz="1400" dirty="0"/>
              <a:t> et al. 2025): a qubit-efficient alternative encoding that generates high-quality LABS seeds using a classical optimization loop over a compact quantum ansatz.</a:t>
            </a:r>
            <a:endParaRPr sz="1400" dirty="0"/>
          </a:p>
          <a:p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523751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0452"/>
          </a:xfrm>
        </p:spPr>
        <p:txBody>
          <a:bodyPr>
            <a:normAutofit fontScale="90000"/>
          </a:bodyPr>
          <a:lstStyle/>
          <a:p>
            <a:r>
              <a:rPr dirty="0"/>
              <a:t>The Plan</a:t>
            </a:r>
            <a:r>
              <a:rPr lang="en-US" dirty="0"/>
              <a:t> – Research and Trotter+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7966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400" dirty="0"/>
          </a:p>
          <a:p>
            <a:pPr marL="0" indent="0">
              <a:buNone/>
            </a:pPr>
            <a:r>
              <a:rPr lang="en-US" sz="1400" b="1" dirty="0"/>
              <a:t>Five Research Papers</a:t>
            </a:r>
            <a:r>
              <a:rPr sz="1400" b="1" dirty="0"/>
              <a:t>:</a:t>
            </a:r>
          </a:p>
          <a:p>
            <a:pPr marL="0" indent="0">
              <a:buNone/>
            </a:pPr>
            <a:r>
              <a:rPr sz="1400" dirty="0"/>
              <a:t>• Gómez-Cadavid et al. (2025): Quantum-Enhanced Memetic Tabu Search (QE-MTS) for LABS</a:t>
            </a:r>
          </a:p>
          <a:p>
            <a:pPr marL="0" indent="0">
              <a:buNone/>
            </a:pPr>
            <a:r>
              <a:rPr sz="1400" dirty="0"/>
              <a:t>  – Challenge-endorsed hybrid template and evaluation metrics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• </a:t>
            </a:r>
            <a:r>
              <a:rPr lang="en-US" sz="1400" dirty="0" err="1"/>
              <a:t>Sciorilli</a:t>
            </a:r>
            <a:r>
              <a:rPr lang="en-US" sz="1400" dirty="0"/>
              <a:t> et al. (2025): Pauli Correlation Encoding (PCE)</a:t>
            </a:r>
          </a:p>
          <a:p>
            <a:pPr marL="0" indent="0">
              <a:buNone/>
            </a:pPr>
            <a:r>
              <a:rPr lang="en-US" sz="1400" dirty="0"/>
              <a:t>  – Qubit-efficient quantum encoding for LABS (alternative seeding strategy)</a:t>
            </a:r>
          </a:p>
          <a:p>
            <a:pPr marL="0" indent="0">
              <a:buNone/>
            </a:pPr>
            <a:r>
              <a:rPr lang="en-US" sz="1400" dirty="0"/>
              <a:t>• Farhi et al. (2014–): Quantum Approximate Optimization Algorithm (QAOA)</a:t>
            </a:r>
          </a:p>
          <a:p>
            <a:pPr marL="0" indent="0">
              <a:buNone/>
            </a:pPr>
            <a:r>
              <a:rPr lang="en-US" sz="1400" dirty="0"/>
              <a:t>  – Canonical quantum baseline for combinatorial optimization</a:t>
            </a:r>
            <a:endParaRPr sz="1400" dirty="0"/>
          </a:p>
          <a:p>
            <a:pPr marL="0" indent="0">
              <a:buNone/>
            </a:pPr>
            <a:r>
              <a:rPr sz="1400" dirty="0"/>
              <a:t>• </a:t>
            </a:r>
            <a:r>
              <a:rPr sz="1400" dirty="0" err="1"/>
              <a:t>Hegade</a:t>
            </a:r>
            <a:r>
              <a:rPr sz="1400" dirty="0"/>
              <a:t> et al. (2022): Digitized </a:t>
            </a:r>
            <a:r>
              <a:rPr sz="1400" dirty="0" err="1"/>
              <a:t>Counterdiabatic</a:t>
            </a:r>
            <a:r>
              <a:rPr sz="1400" dirty="0"/>
              <a:t> Quantum Optimization (DCQO)</a:t>
            </a:r>
          </a:p>
          <a:p>
            <a:pPr marL="0" indent="0">
              <a:buNone/>
            </a:pPr>
            <a:r>
              <a:rPr sz="1400" dirty="0"/>
              <a:t>  – Low-depth </a:t>
            </a:r>
            <a:r>
              <a:rPr sz="1400" dirty="0" err="1"/>
              <a:t>counterdiabatic</a:t>
            </a:r>
            <a:r>
              <a:rPr sz="1400" dirty="0"/>
              <a:t> circuits for improved sampling distributions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• Zhang et al. (2025): Massively Parallel Memetic Tabu Search for LABS  </a:t>
            </a:r>
          </a:p>
          <a:p>
            <a:pPr marL="0" indent="0">
              <a:buNone/>
            </a:pPr>
            <a:r>
              <a:rPr lang="en-US" sz="1400" dirty="0"/>
              <a:t>– GPU-parallelized energy and neighborhood evaluation enabling scalable, high-throughput classical optimization</a:t>
            </a:r>
            <a:endParaRPr sz="1400" dirty="0"/>
          </a:p>
          <a:p>
            <a:pPr marL="0" indent="0">
              <a:buNone/>
            </a:pPr>
            <a:r>
              <a:rPr sz="1400" dirty="0"/>
              <a:t>• </a:t>
            </a:r>
            <a:r>
              <a:rPr sz="1400" b="1" dirty="0"/>
              <a:t>DCQO+ Trotterization Upgrades</a:t>
            </a:r>
            <a:r>
              <a:rPr sz="1400" dirty="0"/>
              <a:t>:</a:t>
            </a:r>
          </a:p>
          <a:p>
            <a:pPr marL="0" indent="0">
              <a:buNone/>
            </a:pPr>
            <a:r>
              <a:rPr sz="1400" dirty="0"/>
              <a:t>  – Midpoint time discretization</a:t>
            </a:r>
          </a:p>
          <a:p>
            <a:pPr marL="0" indent="0">
              <a:buNone/>
            </a:pPr>
            <a:r>
              <a:rPr sz="1400" dirty="0"/>
              <a:t>  – Forward/reverse Pauli ordering</a:t>
            </a:r>
          </a:p>
          <a:p>
            <a:pPr marL="0" indent="0">
              <a:buNone/>
            </a:pPr>
            <a:r>
              <a:rPr sz="1400" dirty="0"/>
              <a:t>  – K-permutation averaged ordering</a:t>
            </a:r>
          </a:p>
          <a:p>
            <a:endParaRPr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DCQO vs DCQO+: Controlled Quantum Ablations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Baseline DCQO (Tutorial / Cadavid):</a:t>
            </a:r>
          </a:p>
          <a:p>
            <a:pPr marL="0" indent="0">
              <a:buNone/>
            </a:pPr>
            <a:r>
              <a:rPr dirty="0"/>
              <a:t>• First-order Lie–Trotter product formula</a:t>
            </a:r>
          </a:p>
          <a:p>
            <a:pPr marL="0" indent="0">
              <a:buNone/>
            </a:pPr>
            <a:r>
              <a:rPr dirty="0"/>
              <a:t>• Right-endpoint time discretization</a:t>
            </a:r>
          </a:p>
          <a:p>
            <a:pPr marL="0" indent="0">
              <a:buNone/>
            </a:pPr>
            <a:r>
              <a:rPr dirty="0"/>
              <a:t>• Fixed Pauli-string ordering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DCQO+ Upgrades (No Extra Quantum Depth):</a:t>
            </a:r>
          </a:p>
          <a:p>
            <a:pPr marL="0" indent="0">
              <a:buNone/>
            </a:pPr>
            <a:r>
              <a:rPr dirty="0"/>
              <a:t>• Midpoint time grid for CD angle evaluation</a:t>
            </a:r>
          </a:p>
          <a:p>
            <a:pPr marL="0" indent="0">
              <a:buNone/>
            </a:pPr>
            <a:r>
              <a:rPr dirty="0"/>
              <a:t>• Forward / reverse Pauli ordering alternation</a:t>
            </a:r>
          </a:p>
          <a:p>
            <a:pPr marL="0" indent="0">
              <a:buNone/>
            </a:pPr>
            <a:r>
              <a:rPr dirty="0"/>
              <a:t>• k-permutation Pauli ordering (randomized product formula lite)</a:t>
            </a:r>
          </a:p>
          <a:p>
            <a:pPr lvl="1"/>
            <a:endParaRPr dirty="0"/>
          </a:p>
          <a:p>
            <a:pPr marL="400050" lvl="1" indent="0">
              <a:buNone/>
            </a:pPr>
            <a:r>
              <a:rPr dirty="0"/>
              <a:t>Design Rationale:</a:t>
            </a:r>
          </a:p>
          <a:p>
            <a:pPr marL="400050" lvl="1" indent="0">
              <a:buNone/>
            </a:pPr>
            <a:r>
              <a:rPr dirty="0"/>
              <a:t>• Improves discretization &amp; ordering error</a:t>
            </a:r>
          </a:p>
          <a:p>
            <a:pPr marL="400050" lvl="1" indent="0">
              <a:buNone/>
            </a:pPr>
            <a:r>
              <a:rPr dirty="0"/>
              <a:t>• Increases sampling diversity</a:t>
            </a:r>
          </a:p>
          <a:p>
            <a:pPr marL="400050" lvl="1" indent="0">
              <a:buNone/>
            </a:pPr>
            <a:r>
              <a:rPr dirty="0"/>
              <a:t>• Adds zero additional gates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PCE </a:t>
            </a:r>
            <a:r>
              <a:rPr lang="en-US" dirty="0"/>
              <a:t>"</a:t>
            </a:r>
            <a:r>
              <a:rPr dirty="0"/>
              <a:t>Twist</a:t>
            </a:r>
            <a:r>
              <a:rPr lang="en-US" dirty="0"/>
              <a:t>"</a:t>
            </a:r>
            <a:r>
              <a:rPr dirty="0"/>
              <a:t> Seeder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Pauli Correlation Encoding (</a:t>
            </a:r>
            <a:r>
              <a:rPr dirty="0" err="1"/>
              <a:t>Sciorilli</a:t>
            </a:r>
            <a:r>
              <a:rPr dirty="0"/>
              <a:t> et al., 2025):</a:t>
            </a:r>
          </a:p>
          <a:p>
            <a:pPr marL="0" indent="0">
              <a:buNone/>
            </a:pPr>
            <a:r>
              <a:rPr dirty="0"/>
              <a:t>• Qubit-efficient LABS encoding</a:t>
            </a:r>
          </a:p>
          <a:p>
            <a:pPr marL="0" indent="0">
              <a:buNone/>
            </a:pPr>
            <a:r>
              <a:rPr dirty="0"/>
              <a:t>• n = ceil(log₄(N + 1)) qubits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Implementation Details (</a:t>
            </a:r>
            <a:r>
              <a:rPr lang="en-US" dirty="0"/>
              <a:t>True to paper</a:t>
            </a:r>
            <a:r>
              <a:rPr dirty="0"/>
              <a:t>):</a:t>
            </a:r>
          </a:p>
          <a:p>
            <a:pPr marL="0" indent="0">
              <a:buNone/>
            </a:pPr>
            <a:r>
              <a:rPr dirty="0"/>
              <a:t>• Brickwork ansatz</a:t>
            </a:r>
          </a:p>
          <a:p>
            <a:pPr marL="0" indent="0">
              <a:buNone/>
            </a:pPr>
            <a:r>
              <a:rPr dirty="0"/>
              <a:t>• Relaxed LABS cost (Eq. 4)</a:t>
            </a:r>
          </a:p>
          <a:p>
            <a:pPr marL="0" indent="0">
              <a:buNone/>
            </a:pPr>
            <a:r>
              <a:rPr dirty="0"/>
              <a:t>• L-BFGS-B multi-restart classical optimization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Benchmark Result (N = 16):</a:t>
            </a:r>
          </a:p>
          <a:p>
            <a:pPr marL="0" indent="0">
              <a:buNone/>
            </a:pPr>
            <a:r>
              <a:rPr dirty="0"/>
              <a:t>• PCE raw energy min = 24</a:t>
            </a:r>
          </a:p>
          <a:p>
            <a:pPr marL="0" indent="0">
              <a:buNone/>
            </a:pPr>
            <a:r>
              <a:rPr dirty="0"/>
              <a:t>• QAOA / DCQO raw energy = 32–36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Execution: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numpy</a:t>
            </a:r>
            <a:r>
              <a:rPr dirty="0"/>
              <a:t> + </a:t>
            </a:r>
            <a:r>
              <a:rPr dirty="0" err="1"/>
              <a:t>scipy</a:t>
            </a:r>
            <a:r>
              <a:rPr dirty="0"/>
              <a:t> simulation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>
                <a:solidFill>
                  <a:srgbClr val="FF0000"/>
                </a:solidFill>
              </a:rPr>
              <a:t>No CUDA-Q </a:t>
            </a:r>
            <a:r>
              <a:rPr dirty="0"/>
              <a:t>dependency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GPU Acceleration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/>
              <a:t>Energy Evaluation Kernel:</a:t>
            </a:r>
          </a:p>
          <a:p>
            <a:pPr marL="0" indent="0">
              <a:buNone/>
            </a:pPr>
            <a:r>
              <a:rPr dirty="0"/>
              <a:t>• CuPy </a:t>
            </a:r>
            <a:r>
              <a:rPr dirty="0" err="1"/>
              <a:t>RawKernel</a:t>
            </a:r>
            <a:r>
              <a:rPr dirty="0"/>
              <a:t> with shared-memory tree reduction</a:t>
            </a:r>
          </a:p>
          <a:p>
            <a:pPr marL="0" indent="0">
              <a:buNone/>
            </a:pPr>
            <a:r>
              <a:rPr dirty="0"/>
              <a:t>• 150–250× speedup</a:t>
            </a:r>
          </a:p>
          <a:p>
            <a:pPr marL="0" indent="0">
              <a:buNone/>
            </a:pPr>
            <a:r>
              <a:rPr dirty="0"/>
              <a:t>• 31–40 µs per batch (constant time)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MTS Delta-Energy Kernels:</a:t>
            </a:r>
          </a:p>
          <a:p>
            <a:pPr marL="0" indent="0">
              <a:buNone/>
            </a:pPr>
            <a:r>
              <a:rPr dirty="0"/>
              <a:t>• Three incremental CUDA kernels</a:t>
            </a:r>
          </a:p>
          <a:p>
            <a:pPr marL="0" indent="0">
              <a:buNone/>
            </a:pPr>
            <a:r>
              <a:rPr dirty="0"/>
              <a:t>• 13–48× speedup over CPU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Robustness &amp; Scaling:</a:t>
            </a:r>
          </a:p>
          <a:p>
            <a:pPr marL="0" indent="0">
              <a:buNone/>
            </a:pPr>
            <a:r>
              <a:rPr dirty="0"/>
              <a:t>• OOM guard for large-N CUDA-Q seeders</a:t>
            </a:r>
          </a:p>
          <a:p>
            <a:pPr marL="0" indent="0">
              <a:buNone/>
            </a:pPr>
            <a:r>
              <a:rPr dirty="0"/>
              <a:t>• Benchmarks collected on NVIDIA L4 GPU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GPU acceleration reference:</a:t>
            </a:r>
            <a:br>
              <a:rPr lang="en-US" dirty="0"/>
            </a:br>
            <a:r>
              <a:rPr lang="en-US" dirty="0"/>
              <a:t>Zhang et al., </a:t>
            </a:r>
            <a:r>
              <a:rPr lang="en-US" i="1" dirty="0"/>
              <a:t>“Massively Parallel Memetic Tabu Search for the Low Autocorrelation Binary Sequences Problem,”</a:t>
            </a:r>
            <a:r>
              <a:rPr lang="en-US" dirty="0"/>
              <a:t> 2025.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4B5E498A-A8F2-0FCA-D5F5-7C742300CC1F}"/>
              </a:ext>
            </a:extLst>
          </p:cNvPr>
          <p:cNvSpPr/>
          <p:nvPr/>
        </p:nvSpPr>
        <p:spPr>
          <a:xfrm>
            <a:off x="861242" y="1234440"/>
            <a:ext cx="57216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MTS iterations per second within the fixed 3s search budget.</a:t>
            </a:r>
            <a:endParaRPr lang="en-US" sz="1400" dirty="0"/>
          </a:p>
        </p:txBody>
      </p:sp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A2604DA7-9073-ABDA-B204-7113C169E83F}"/>
              </a:ext>
            </a:extLst>
          </p:cNvPr>
          <p:cNvGraphicFramePr/>
          <p:nvPr/>
        </p:nvGraphicFramePr>
        <p:xfrm>
          <a:off x="861241" y="160020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4EBE3CC-4FCC-4272-3E28-0F70743E0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MTS Throughput Scaling with 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2599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857250"/>
            <a:ext cx="9143771" cy="56235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480061" y="980694"/>
            <a:ext cx="8183651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quality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0061" y="1213866"/>
            <a:ext cx="8183651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raw seed energy before MTS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388506" y="1837944"/>
            <a:ext cx="836676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457086" y="1920240"/>
            <a:ext cx="68580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498234" y="196138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142886" y="1920240"/>
            <a:ext cx="15087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1184034" y="196138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2651646" y="1920240"/>
            <a:ext cx="15087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2692794" y="196138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4160406" y="1920240"/>
            <a:ext cx="15087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4201554" y="196138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DCQO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669166" y="1920240"/>
            <a:ext cx="15087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5710314" y="196138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DCQO+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7177926" y="1920240"/>
            <a:ext cx="15087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7219074" y="196138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57086" y="2331720"/>
            <a:ext cx="685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498234" y="237286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142886" y="233172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1184034" y="237286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2651646" y="233172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2692794" y="237286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160406" y="233172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5" name="Text 23"/>
          <p:cNvSpPr/>
          <p:nvPr/>
        </p:nvSpPr>
        <p:spPr>
          <a:xfrm>
            <a:off x="4201554" y="237286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5669166" y="233172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Text 25"/>
          <p:cNvSpPr/>
          <p:nvPr/>
        </p:nvSpPr>
        <p:spPr>
          <a:xfrm>
            <a:off x="5710314" y="237286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7177926" y="233172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Text 27"/>
          <p:cNvSpPr/>
          <p:nvPr/>
        </p:nvSpPr>
        <p:spPr>
          <a:xfrm>
            <a:off x="7219074" y="237286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457086" y="2743200"/>
            <a:ext cx="685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Text 29"/>
          <p:cNvSpPr/>
          <p:nvPr/>
        </p:nvSpPr>
        <p:spPr>
          <a:xfrm>
            <a:off x="498234" y="278434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1142886" y="274320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 31"/>
          <p:cNvSpPr/>
          <p:nvPr/>
        </p:nvSpPr>
        <p:spPr>
          <a:xfrm>
            <a:off x="1184034" y="278434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2651646" y="274320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5" name="Text 33"/>
          <p:cNvSpPr/>
          <p:nvPr/>
        </p:nvSpPr>
        <p:spPr>
          <a:xfrm>
            <a:off x="2692794" y="278434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4160406" y="274320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7" name="Text 35"/>
          <p:cNvSpPr/>
          <p:nvPr/>
        </p:nvSpPr>
        <p:spPr>
          <a:xfrm>
            <a:off x="4201554" y="278434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5669166" y="274320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Text 37"/>
          <p:cNvSpPr/>
          <p:nvPr/>
        </p:nvSpPr>
        <p:spPr>
          <a:xfrm>
            <a:off x="5710314" y="278434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7177926" y="274320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1" name="Text 39"/>
          <p:cNvSpPr/>
          <p:nvPr/>
        </p:nvSpPr>
        <p:spPr>
          <a:xfrm>
            <a:off x="7219074" y="278434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457086" y="3154680"/>
            <a:ext cx="685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3" name="Text 41"/>
          <p:cNvSpPr/>
          <p:nvPr/>
        </p:nvSpPr>
        <p:spPr>
          <a:xfrm>
            <a:off x="498234" y="3195828"/>
            <a:ext cx="603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1142886" y="31546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5" name="Text 43"/>
          <p:cNvSpPr/>
          <p:nvPr/>
        </p:nvSpPr>
        <p:spPr>
          <a:xfrm>
            <a:off x="1184034" y="319582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316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2651646" y="31546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7" name="Text 45"/>
          <p:cNvSpPr/>
          <p:nvPr/>
        </p:nvSpPr>
        <p:spPr>
          <a:xfrm>
            <a:off x="2692794" y="319582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4160406" y="31546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9" name="Text 47"/>
          <p:cNvSpPr/>
          <p:nvPr/>
        </p:nvSpPr>
        <p:spPr>
          <a:xfrm>
            <a:off x="4201554" y="319582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5669166" y="31546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1" name="Text 49"/>
          <p:cNvSpPr/>
          <p:nvPr/>
        </p:nvSpPr>
        <p:spPr>
          <a:xfrm>
            <a:off x="5710314" y="319582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7177926" y="3154680"/>
            <a:ext cx="1508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3" name="Text 51"/>
          <p:cNvSpPr/>
          <p:nvPr/>
        </p:nvSpPr>
        <p:spPr>
          <a:xfrm>
            <a:off x="7219074" y="3195828"/>
            <a:ext cx="1426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457086" y="3669030"/>
            <a:ext cx="8229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lower energy is better.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994411" y="4629150"/>
            <a:ext cx="7154951" cy="72009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6" name="Text 54"/>
          <p:cNvSpPr/>
          <p:nvPr/>
        </p:nvSpPr>
        <p:spPr>
          <a:xfrm>
            <a:off x="1200151" y="4752594"/>
            <a:ext cx="674347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200151" y="4958334"/>
            <a:ext cx="6743471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 produces seeds ~2× better than random across all 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857250"/>
            <a:ext cx="9143771" cy="56235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/>
          <p:cNvSpPr/>
          <p:nvPr/>
        </p:nvSpPr>
        <p:spPr>
          <a:xfrm>
            <a:off x="480061" y="980694"/>
            <a:ext cx="8183651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energy after MTS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0061" y="1213866"/>
            <a:ext cx="8183651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GPU budget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388506" y="1940814"/>
            <a:ext cx="8366760" cy="1947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457086" y="2023110"/>
            <a:ext cx="685800" cy="44577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498234" y="2064258"/>
            <a:ext cx="60350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1142886" y="2023110"/>
            <a:ext cx="1508760" cy="44577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1184034" y="206425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2651646" y="2023110"/>
            <a:ext cx="1508760" cy="44577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2692794" y="206425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4160406" y="2023110"/>
            <a:ext cx="1508760" cy="44577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4201554" y="206425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DCQO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669166" y="2023110"/>
            <a:ext cx="1508760" cy="44577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5710314" y="206425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DCQO+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7177926" y="2023110"/>
            <a:ext cx="1508760" cy="44577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7219074" y="206425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57086" y="2468880"/>
            <a:ext cx="6858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498234" y="2510028"/>
            <a:ext cx="60350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142886" y="246888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Text 19"/>
          <p:cNvSpPr/>
          <p:nvPr/>
        </p:nvSpPr>
        <p:spPr>
          <a:xfrm>
            <a:off x="1184034" y="251002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2651646" y="246888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3" name="Text 21"/>
          <p:cNvSpPr/>
          <p:nvPr/>
        </p:nvSpPr>
        <p:spPr>
          <a:xfrm>
            <a:off x="2692794" y="251002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160406" y="246888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5" name="Text 23"/>
          <p:cNvSpPr/>
          <p:nvPr/>
        </p:nvSpPr>
        <p:spPr>
          <a:xfrm>
            <a:off x="4201554" y="251002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5669166" y="246888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Text 25"/>
          <p:cNvSpPr/>
          <p:nvPr/>
        </p:nvSpPr>
        <p:spPr>
          <a:xfrm>
            <a:off x="5710314" y="251002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7177926" y="246888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Text 27"/>
          <p:cNvSpPr/>
          <p:nvPr/>
        </p:nvSpPr>
        <p:spPr>
          <a:xfrm>
            <a:off x="7219074" y="251002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457086" y="2914650"/>
            <a:ext cx="6858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Text 29"/>
          <p:cNvSpPr/>
          <p:nvPr/>
        </p:nvSpPr>
        <p:spPr>
          <a:xfrm>
            <a:off x="498234" y="2955798"/>
            <a:ext cx="60350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1142886" y="291465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 31"/>
          <p:cNvSpPr/>
          <p:nvPr/>
        </p:nvSpPr>
        <p:spPr>
          <a:xfrm>
            <a:off x="1184034" y="295579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2651646" y="291465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5" name="Text 33"/>
          <p:cNvSpPr/>
          <p:nvPr/>
        </p:nvSpPr>
        <p:spPr>
          <a:xfrm>
            <a:off x="2692794" y="295579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4160406" y="291465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7" name="Text 35"/>
          <p:cNvSpPr/>
          <p:nvPr/>
        </p:nvSpPr>
        <p:spPr>
          <a:xfrm>
            <a:off x="4201554" y="295579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5669166" y="291465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9" name="Text 37"/>
          <p:cNvSpPr/>
          <p:nvPr/>
        </p:nvSpPr>
        <p:spPr>
          <a:xfrm>
            <a:off x="5710314" y="295579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7177926" y="291465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1" name="Text 39"/>
          <p:cNvSpPr/>
          <p:nvPr/>
        </p:nvSpPr>
        <p:spPr>
          <a:xfrm>
            <a:off x="7219074" y="295579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457086" y="3360420"/>
            <a:ext cx="6858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3" name="Text 41"/>
          <p:cNvSpPr/>
          <p:nvPr/>
        </p:nvSpPr>
        <p:spPr>
          <a:xfrm>
            <a:off x="498234" y="3401568"/>
            <a:ext cx="60350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1142886" y="336042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5" name="Text 43"/>
          <p:cNvSpPr/>
          <p:nvPr/>
        </p:nvSpPr>
        <p:spPr>
          <a:xfrm>
            <a:off x="1184034" y="340156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2651646" y="336042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7" name="Text 45"/>
          <p:cNvSpPr/>
          <p:nvPr/>
        </p:nvSpPr>
        <p:spPr>
          <a:xfrm>
            <a:off x="2692794" y="340156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4160406" y="336042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9" name="Text 47"/>
          <p:cNvSpPr/>
          <p:nvPr/>
        </p:nvSpPr>
        <p:spPr>
          <a:xfrm>
            <a:off x="4201554" y="340156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5669166" y="336042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1" name="Text 49"/>
          <p:cNvSpPr/>
          <p:nvPr/>
        </p:nvSpPr>
        <p:spPr>
          <a:xfrm>
            <a:off x="5710314" y="340156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7177926" y="3360420"/>
            <a:ext cx="15087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53" name="Text 51"/>
          <p:cNvSpPr/>
          <p:nvPr/>
        </p:nvSpPr>
        <p:spPr>
          <a:xfrm>
            <a:off x="7219074" y="3401568"/>
            <a:ext cx="1426464" cy="363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25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125" dirty="0"/>
          </a:p>
        </p:txBody>
      </p:sp>
      <p:sp>
        <p:nvSpPr>
          <p:cNvPr id="54" name="Text 52"/>
          <p:cNvSpPr/>
          <p:nvPr/>
        </p:nvSpPr>
        <p:spPr>
          <a:xfrm>
            <a:off x="457086" y="3909060"/>
            <a:ext cx="8229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825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lower energy is better.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994411" y="4766310"/>
            <a:ext cx="7154951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 sz="1350"/>
          </a:p>
        </p:txBody>
      </p:sp>
      <p:sp>
        <p:nvSpPr>
          <p:cNvPr id="56" name="Text 54"/>
          <p:cNvSpPr/>
          <p:nvPr/>
        </p:nvSpPr>
        <p:spPr>
          <a:xfrm>
            <a:off x="1200151" y="4876038"/>
            <a:ext cx="674347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200151" y="5081778"/>
            <a:ext cx="6743471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3s MTS budget, methods tie at N=20 and N=30; PCE is best at N=40.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6E88A-8F2C-9674-0C73-BA9321DB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95DDDD-F227-3977-7E3B-84BAD1E03DF2}"/>
              </a:ext>
            </a:extLst>
          </p:cNvPr>
          <p:cNvSpPr/>
          <p:nvPr/>
        </p:nvSpPr>
        <p:spPr>
          <a:xfrm>
            <a:off x="1" y="857250"/>
            <a:ext cx="9143771" cy="562356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4EBB83-4BCD-4B60-9707-7445037832FF}"/>
              </a:ext>
            </a:extLst>
          </p:cNvPr>
          <p:cNvSpPr/>
          <p:nvPr/>
        </p:nvSpPr>
        <p:spPr>
          <a:xfrm>
            <a:off x="480061" y="980694"/>
            <a:ext cx="8183651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Breakdown</a:t>
            </a: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97D61F-627A-68A5-D55D-1ABB2C9E675A}"/>
              </a:ext>
            </a:extLst>
          </p:cNvPr>
          <p:cNvSpPr/>
          <p:nvPr/>
        </p:nvSpPr>
        <p:spPr>
          <a:xfrm>
            <a:off x="480061" y="1213866"/>
            <a:ext cx="8183651" cy="178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75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solution</a:t>
            </a:r>
            <a:endParaRPr lang="en-US" sz="975" dirty="0"/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9DD14EBF-4862-C460-4B13-7ED9D6A16F93}"/>
              </a:ext>
            </a:extLst>
          </p:cNvPr>
          <p:cNvSpPr/>
          <p:nvPr/>
        </p:nvSpPr>
        <p:spPr>
          <a:xfrm>
            <a:off x="411481" y="1783080"/>
            <a:ext cx="8320811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374151"/>
                </a:solidFill>
              </a:rPr>
              <a:t>End-to-end runtime components (seed → postselect → MTS budget)</a:t>
            </a:r>
            <a:endParaRPr lang="en-US" sz="1050" dirty="0"/>
          </a:p>
        </p:txBody>
      </p:sp>
      <p:pic>
        <p:nvPicPr>
          <p:cNvPr id="59" name="Image 0" descr="/mnt/data/ppt_assets/runtime_breakdown.png">
            <a:extLst>
              <a:ext uri="{FF2B5EF4-FFF2-40B4-BE49-F238E27FC236}">
                <a16:creationId xmlns:a16="http://schemas.microsoft.com/office/drawing/2014/main" id="{F3B3C093-798F-7C22-D860-9992ABC7B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010" y="2183029"/>
            <a:ext cx="4873752" cy="3655314"/>
          </a:xfrm>
          <a:prstGeom prst="rect">
            <a:avLst/>
          </a:prstGeom>
        </p:spPr>
      </p:pic>
      <p:sp>
        <p:nvSpPr>
          <p:cNvPr id="60" name="Text 6">
            <a:extLst>
              <a:ext uri="{FF2B5EF4-FFF2-40B4-BE49-F238E27FC236}">
                <a16:creationId xmlns:a16="http://schemas.microsoft.com/office/drawing/2014/main" id="{5B37B939-A458-0C50-0A01-3129DB6B2C69}"/>
              </a:ext>
            </a:extLst>
          </p:cNvPr>
          <p:cNvSpPr/>
          <p:nvPr/>
        </p:nvSpPr>
        <p:spPr>
          <a:xfrm>
            <a:off x="411481" y="5771038"/>
            <a:ext cx="8320811" cy="58293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2096" tIns="2096" rIns="2096" bIns="2096" rtlCol="0" anchor="ctr"/>
          <a:lstStyle/>
          <a:p>
            <a:r>
              <a:rPr lang="en-US" sz="975" dirty="0">
                <a:solidFill>
                  <a:srgbClr val="111827"/>
                </a:solidFill>
              </a:rPr>
              <a:t>Takeaway: GPU MTS is fast and stable; some seeders (notably PCE) trade compute time for higher-quality starting points.</a:t>
            </a:r>
            <a:endParaRPr lang="en-US" sz="975" dirty="0"/>
          </a:p>
        </p:txBody>
      </p:sp>
    </p:spTree>
    <p:extLst>
      <p:ext uri="{BB962C8B-B14F-4D97-AF65-F5344CB8AC3E}">
        <p14:creationId xmlns:p14="http://schemas.microsoft.com/office/powerpoint/2010/main" val="2724623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PRD Success Metrics — Checklist (Evidence from Bench Runs)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1 (GPU speedup ≥5×)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energy kernel 150–250×; MTS delta-energy 13–48× (L4 benchmarks).</a:t>
            </a:r>
          </a:p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2 (Scale: N=20–30 end-to-end)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Gate 3 GPU matrix includes N=20 &amp; N=30 runs + logs/plots.</a:t>
            </a:r>
          </a:p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3 (Seeder comparison: Random vs DCQO vs DCQO+)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convergence traces + seed &amp; final-energy plots saved in Gate 3 artifacts.</a:t>
            </a:r>
          </a:p>
          <a:p>
            <a:pPr marL="0" indent="0">
              <a:buNone/>
              <a:defRPr sz="1800" b="1"/>
            </a:pPr>
            <a:r>
              <a:rPr sz="1800" b="1" dirty="0">
                <a:solidFill>
                  <a:srgbClr val="00B050"/>
                </a:solidFill>
              </a:rPr>
              <a:t>☑</a:t>
            </a:r>
            <a:r>
              <a:rPr sz="1800" b="1" dirty="0"/>
              <a:t> Metric 4 (Large N: reach N≥40) — Achieved </a:t>
            </a:r>
            <a:endParaRPr lang="en-US" sz="1800" b="1" dirty="0"/>
          </a:p>
          <a:p>
            <a:pPr marL="0" indent="0">
              <a:buNone/>
              <a:defRPr sz="1800" b="1"/>
            </a:pPr>
            <a:r>
              <a:rPr lang="en-US" sz="1800" b="1" dirty="0"/>
              <a:t>	</a:t>
            </a:r>
            <a:r>
              <a:rPr sz="1400" b="0" dirty="0"/>
              <a:t>Evidence: N=40 runs completed for Random &amp; PCE; CUDA-Q seeders skipped via OOM guard.</a:t>
            </a:r>
          </a:p>
          <a:p>
            <a:pPr marL="0" indent="0">
              <a:buNone/>
              <a:defRPr sz="1800" b="1"/>
            </a:pPr>
            <a:r>
              <a:rPr lang="en-US" sz="1800" b="1" dirty="0">
                <a:solidFill>
                  <a:srgbClr val="00B050"/>
                </a:solidFill>
              </a:rPr>
              <a:t>☑</a:t>
            </a:r>
            <a:r>
              <a:rPr lang="en-US" sz="1800" b="1" dirty="0"/>
              <a:t> </a:t>
            </a:r>
            <a:r>
              <a:rPr sz="1800" b="1" dirty="0"/>
              <a:t>Metric 5 (PCE seeds implemented)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PCE seeder integrated</a:t>
            </a:r>
            <a:endParaRPr lang="en-US" sz="1400" b="0" dirty="0"/>
          </a:p>
          <a:p>
            <a:pPr marL="0" indent="0">
              <a:buNone/>
              <a:defRPr sz="1800" b="1"/>
            </a:pPr>
            <a:r>
              <a:rPr lang="en-US" sz="1800" b="1" dirty="0">
                <a:solidFill>
                  <a:srgbClr val="00B050"/>
                </a:solidFill>
              </a:rPr>
              <a:t>☑</a:t>
            </a:r>
            <a:r>
              <a:rPr lang="en-US" sz="1800" b="1" dirty="0"/>
              <a:t> Metric 6 (Quantum advantage signal at N≥25 vs Random median) — Achieved</a:t>
            </a:r>
          </a:p>
          <a:p>
            <a:pPr marL="457200" lvl="1" indent="0">
              <a:buNone/>
              <a:defRPr sz="1400" b="0"/>
            </a:pPr>
            <a:r>
              <a:rPr sz="1400" b="0" dirty="0"/>
              <a:t>Evidence: At N=</a:t>
            </a:r>
            <a:r>
              <a:rPr lang="en-US" sz="1400" b="0" dirty="0"/>
              <a:t>4</a:t>
            </a:r>
            <a:r>
              <a:rPr sz="1400" b="0" dirty="0"/>
              <a:t>0</a:t>
            </a:r>
            <a:r>
              <a:rPr lang="en-US" sz="1400" b="0" dirty="0"/>
              <a:t> with PCE</a:t>
            </a:r>
            <a:endParaRPr sz="1400" b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b="1" dirty="0"/>
              <a:t>Ben</a:t>
            </a:r>
          </a:p>
          <a:p>
            <a:pPr marL="0" indent="0">
              <a:buNone/>
              <a:defRPr sz="2000"/>
            </a:pPr>
            <a:endParaRPr lang="en-US" b="1" dirty="0"/>
          </a:p>
          <a:p>
            <a:pPr lvl="1">
              <a:defRPr sz="2000"/>
            </a:pPr>
            <a:r>
              <a:rPr dirty="0"/>
              <a:t>GPU time is expensive, but necessary to reach regimes where scaling behavior is meaningful.</a:t>
            </a:r>
            <a:endParaRPr lang="en-US" dirty="0"/>
          </a:p>
          <a:p>
            <a:pPr lvl="1">
              <a:defRPr sz="2000"/>
            </a:pPr>
            <a:r>
              <a:rPr dirty="0"/>
              <a:t>Without removing classical bottlenecks, quantum improvements cannot be measured fairly.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1489</Words>
  <Application>Microsoft Office PowerPoint</Application>
  <PresentationFormat>On-screen Show (4:3)</PresentationFormat>
  <Paragraphs>202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GPU-Accelerated Hybrid Solver for the LABS Problem</vt:lpstr>
      <vt:lpstr>The Plan – Seeding algorithms</vt:lpstr>
      <vt:lpstr>The Plan – Research and Trotter+</vt:lpstr>
      <vt:lpstr>DCQO vs DCQO+: Controlled Quantum Ablations</vt:lpstr>
      <vt:lpstr>PCE "Twist" Seeder</vt:lpstr>
      <vt:lpstr>GPU Acceleration Results</vt:lpstr>
      <vt:lpstr>MTS Throughput Scaling with N</vt:lpstr>
      <vt:lpstr>PowerPoint Presentation</vt:lpstr>
      <vt:lpstr>PowerPoint Presentation</vt:lpstr>
      <vt:lpstr>PowerPoint Presentation</vt:lpstr>
      <vt:lpstr>PRD Success Metrics — Checklist (Evidence from Bench Runs)</vt:lpstr>
      <vt:lpstr>Personal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 Anstrom</dc:creator>
  <cp:keywords/>
  <dc:description>generated using python-pptx</dc:description>
  <cp:lastModifiedBy>Benjamin Neil Anstrom</cp:lastModifiedBy>
  <cp:revision>3</cp:revision>
  <dcterms:created xsi:type="dcterms:W3CDTF">2013-01-27T09:14:16Z</dcterms:created>
  <dcterms:modified xsi:type="dcterms:W3CDTF">2026-02-01T11:59:02Z</dcterms:modified>
  <cp:category/>
</cp:coreProperties>
</file>